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2C3E50"/>
                </a:solidFill>
              </a:defRPr>
            </a:pPr>
            <a:r>
              <a:t>歡迎加入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27ACB2"/>
                </a:solidFill>
              </a:defRPr>
            </a:pPr>
            <a:r>
              <a:t>遊戲家資訊科技有限公司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646464"/>
                </a:solidFill>
              </a:defRPr>
            </a:pPr>
            <a:r>
              <a:t>新人教育訓練（完整版）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🏢 公司概況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645920"/>
            <a:ext cx="2011680" cy="1371600"/>
          </a:xfrm>
          <a:prstGeom prst="rect">
            <a:avLst/>
          </a:prstGeom>
          <a:solidFill>
            <a:srgbClr val="27A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9202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105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14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營運店家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45920"/>
            <a:ext cx="2011680" cy="1371600"/>
          </a:xfrm>
          <a:prstGeom prst="rect">
            <a:avLst/>
          </a:prstGeom>
          <a:solidFill>
            <a:srgbClr val="27A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9202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10萬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514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會員數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645920"/>
            <a:ext cx="2011680" cy="1371600"/>
          </a:xfrm>
          <a:prstGeom prst="rect">
            <a:avLst/>
          </a:prstGeom>
          <a:solidFill>
            <a:srgbClr val="27A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19202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24/7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514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無人營運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4747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ONE桌遊 - 自助桌遊館品牌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✅ 全台最大自助麻將桌遊連鎖品牌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✅ AI 智能管理系統（門鎖、監控、繳費）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✅ 24小時無人營運模式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✅ 子品牌「智摸科技」- 麻將自助系統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📖 品牌故事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7ACB2"/>
                </a:solidFill>
              </a:defRPr>
            </a:pPr>
            <a:r>
              <a:t>2023/7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96596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050"/>
                </a:solidFill>
              </a:defRPr>
            </a:pPr>
            <a:r>
              <a:t>第一家店開幕（無人概念，尚未導入AI）</a:t>
            </a:r>
            <a:br/>
            <a:r>
              <a:t>驗證市場需求與商業模式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6517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7ACB2"/>
                </a:solidFill>
              </a:defRPr>
            </a:pPr>
            <a:r>
              <a:t>2023年底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7180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050"/>
                </a:solidFill>
              </a:defRPr>
            </a:pPr>
            <a:r>
              <a:t>拓展至 6 家店</a:t>
            </a:r>
            <a:br/>
            <a:r>
              <a:t>建立標準化營運流程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7ACB2"/>
                </a:solidFill>
              </a:defRPr>
            </a:pPr>
            <a:r>
              <a:t>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9776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050"/>
                </a:solidFill>
              </a:defRPr>
            </a:pPr>
            <a:r>
              <a:t>快速擴張至 50 家店</a:t>
            </a:r>
            <a:br/>
            <a:r>
              <a:t>開始研發智能管理系統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6634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7ACB2"/>
                </a:solidFill>
              </a:defRPr>
            </a:pPr>
            <a:r>
              <a:t>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9834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050"/>
                </a:solidFill>
              </a:defRPr>
            </a:pPr>
            <a:r>
              <a:t>突破 100 家店，累積 10萬會員</a:t>
            </a:r>
            <a:br/>
            <a:r>
              <a:t>成立子品牌「智摸科技」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6692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7ACB2"/>
                </a:solidFill>
              </a:defRPr>
            </a:pPr>
            <a:r>
              <a:t>2025/11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9893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050"/>
                </a:solidFill>
              </a:defRPr>
            </a:pPr>
            <a:r>
              <a:t>正式導入 AI 技術</a:t>
            </a:r>
            <a:br/>
            <a:r>
              <a:t>智能客服、選址系統、營運分析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👥 核心團隊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2926080" cy="1645920"/>
          </a:xfrm>
          <a:prstGeom prst="rect">
            <a:avLst/>
          </a:prstGeom>
          <a:solidFill>
            <a:srgbClr val="F8F9FA"/>
          </a:solidFill>
          <a:ln w="25400">
            <a:solidFill>
              <a:srgbClr val="27AC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000000"/>
                </a:solidFill>
              </a:defRPr>
            </a:pPr>
            <a:r>
              <a:t>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C3E50"/>
                </a:solidFill>
              </a:defRPr>
            </a:pPr>
            <a:r>
              <a:t>建佑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71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7ACB2"/>
                </a:solidFill>
              </a:defRPr>
            </a:pPr>
            <a:r>
              <a:t>負責人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828800"/>
            <a:ext cx="2926080" cy="1645920"/>
          </a:xfrm>
          <a:prstGeom prst="rect">
            <a:avLst/>
          </a:prstGeom>
          <a:solidFill>
            <a:srgbClr val="F8F9FA"/>
          </a:solidFill>
          <a:ln w="25400">
            <a:solidFill>
              <a:srgbClr val="27AC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2011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000000"/>
                </a:solidFill>
              </a:defRPr>
            </a:pPr>
            <a:r>
              <a:t>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560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C3E50"/>
                </a:solidFill>
              </a:defRPr>
            </a:pPr>
            <a:r>
              <a:t>Ken（阿建）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971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7ACB2"/>
                </a:solidFill>
              </a:defRPr>
            </a:pPr>
            <a:r>
              <a:t>總經理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3840480"/>
            <a:ext cx="2926080" cy="1645920"/>
          </a:xfrm>
          <a:prstGeom prst="rect">
            <a:avLst/>
          </a:prstGeom>
          <a:solidFill>
            <a:srgbClr val="F8F9FA"/>
          </a:solidFill>
          <a:ln w="25400">
            <a:solidFill>
              <a:srgbClr val="27AC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23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000000"/>
                </a:solidFill>
              </a:defRPr>
            </a:pPr>
            <a:r>
              <a:t>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572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C3E50"/>
                </a:solidFill>
              </a:defRPr>
            </a:pPr>
            <a:r>
              <a:t>小圓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983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7ACB2"/>
                </a:solidFill>
              </a:defRPr>
            </a:pPr>
            <a:r>
              <a:t>業務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3840480"/>
            <a:ext cx="2926080" cy="1645920"/>
          </a:xfrm>
          <a:prstGeom prst="rect">
            <a:avLst/>
          </a:prstGeom>
          <a:solidFill>
            <a:srgbClr val="F8F9FA"/>
          </a:solidFill>
          <a:ln w="25400">
            <a:solidFill>
              <a:srgbClr val="27AC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4023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000000"/>
                </a:solidFill>
              </a:defRPr>
            </a:pPr>
            <a:r>
              <a:t>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4572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C3E50"/>
                </a:solidFill>
              </a:defRPr>
            </a:pPr>
            <a:r>
              <a:t>小兔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4983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7ACB2"/>
                </a:solidFill>
              </a:defRPr>
            </a:pPr>
            <a:r>
              <a:t>會計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🤖 AI 時代的轉型思維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645920"/>
            <a:ext cx="6400800" cy="1645920"/>
          </a:xfrm>
          <a:prstGeom prst="rect">
            <a:avLst/>
          </a:prstGeom>
          <a:solidFill>
            <a:srgbClr val="27A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178308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當前時代背景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224028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我們正邁入 AI 時代（2-3 年轉型期）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工具變化快，輔助能力強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效率提升的速度遠超過去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必須習慣的改變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🚀 讓工具來協助工作，而非全靠人工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🚀 從「我來做」轉變為「我來管理工具做」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🚀 工作效率可以是過去的 10 倍甚至更多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🎯 駕馭 AI，而非被取代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645920"/>
            <a:ext cx="6400800" cy="1371600"/>
          </a:xfrm>
          <a:prstGeom prst="rect">
            <a:avLst/>
          </a:prstGeom>
          <a:solidFill>
            <a:srgbClr val="FFF3CD"/>
          </a:solidFill>
          <a:ln w="381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178308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56404"/>
                </a:solidFill>
              </a:defRPr>
            </a:pPr>
            <a:r>
              <a:t>⚠️ 關鍵觀念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2194560"/>
            <a:ext cx="6035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不用擔心 AI 能取代掉誰</a:t>
            </a:r>
          </a:p>
          <a:p>
            <a:pPr>
              <a:defRPr sz="1600"/>
            </a:pPr>
            <a:r>
              <a:t>重點是如何駕馭 AI，創造更高效率及產值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3200400"/>
            <a:ext cx="5486400" cy="731520"/>
          </a:xfrm>
          <a:prstGeom prst="rect">
            <a:avLst/>
          </a:prstGeom>
          <a:solidFill>
            <a:srgbClr val="27A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33375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不改革，就會被改革淘汰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20624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⭐ 會用 AI 的人 &gt; 不會用 AI 的人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⭐ 主動學習工具 &gt; 固守舊方法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⭐ 擁抱變化 &gt; 抗拒變化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🚀 公司發展階段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645920"/>
            <a:ext cx="6400800" cy="2011680"/>
          </a:xfrm>
          <a:prstGeom prst="rect">
            <a:avLst/>
          </a:prstGeom>
          <a:solidFill>
            <a:srgbClr val="27A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178308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我們正處於快速發展期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2240280"/>
            <a:ext cx="6035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從 1 家店 → 105 家店（不到 3 年）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從無人概念 → AI 智能管理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從單一品牌 → 多品牌布局（智摸科技）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從手動管理 → 全自動化系統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我們需要什麼樣的夥伴？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🚀 願意共同衝刺的夥伴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🚀 能快速適應變化的員工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🚀 有主動學習精神的人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🚀 能駕馭工具創造價值的人才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💼 工作期待 - 醜話說在前面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645920"/>
            <a:ext cx="6400800" cy="1097280"/>
          </a:xfrm>
          <a:prstGeom prst="rect">
            <a:avLst/>
          </a:prstGeom>
          <a:solidFill>
            <a:srgbClr val="FFF3CD"/>
          </a:solidFill>
          <a:ln w="381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178308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56404"/>
                </a:solidFill>
              </a:defRPr>
            </a:pPr>
            <a:r>
              <a:t>🚫 Ken（阿建）最不喜歡聽到的話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2194560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0392B"/>
                </a:solidFill>
              </a:defRPr>
            </a:pPr>
            <a:r>
              <a:t>「我不會」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0175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05050"/>
                </a:solidFill>
              </a:defRPr>
            </a:pPr>
            <a:r>
              <a:t>在 AI 時代，這些是基本能力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✅ 統整能力 - 整理資訊、歸納重點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✅ 資料收集 - 搜尋、彙整、分析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✅ AI 工具可以做很完整的協助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572000"/>
            <a:ext cx="6400800" cy="1371600"/>
          </a:xfrm>
          <a:prstGeom prst="rect">
            <a:avLst/>
          </a:prstGeom>
          <a:solidFill>
            <a:srgbClr val="27A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47091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我們需要的是什麼人？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5166360"/>
            <a:ext cx="6035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✅ 會思考的人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✅ 會整理的人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✅ 會主動嘗試的人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📋 正確的工作態度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收到任務後，你應該：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🎯 先簡單彙整任務（用工具協助）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🎯 整理出初步結果（可以不完美）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🎯 開會時討論與調整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3474720"/>
            <a:ext cx="6400800" cy="2560320"/>
          </a:xfrm>
          <a:prstGeom prst="rect">
            <a:avLst/>
          </a:prstGeom>
          <a:solidFill>
            <a:srgbClr val="27A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361188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可以接受 vs 無法接受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4069080"/>
            <a:ext cx="6035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✅ 結果不盡理想 - 沒關係，可以調整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✅ 判斷有些不同 - 沒關係，可以討論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❌ 完全沒嘗試就說「我不會」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❌ 不思考、不整理，等別人給答案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📅 工作節奏與溝通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645920"/>
            <a:ext cx="6400800" cy="2011680"/>
          </a:xfrm>
          <a:prstGeom prst="rect">
            <a:avLst/>
          </a:prstGeom>
          <a:solidFill>
            <a:srgbClr val="27A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178308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每週二下午 2:00 - 週會議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2240280"/>
            <a:ext cx="6035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📊 整理一週的工作狀況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📢 報告進度與問題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💬 討論解決方案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🎯 設定下週目標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日常溝通方式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✅ 群組即時討論（快速決策）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✅ 重要事項即時宣布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⚠️ 重要事項開會需再重複一次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🎯 確保所有人都吸收到訊息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💰 薪資福利制度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645920"/>
            <a:ext cx="6400800" cy="731520"/>
          </a:xfrm>
          <a:prstGeom prst="rect">
            <a:avLst/>
          </a:prstGeom>
          <a:solidFill>
            <a:srgbClr val="D1ECF1"/>
          </a:solidFill>
          <a:ln w="38100"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178308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C5460"/>
                </a:solidFill>
              </a:defRPr>
            </a:pPr>
            <a:r>
              <a:t>💡 待填寫內容 - 請依實際情況填入具體數字與規定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薪資結構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💵 底薪：【待填寫】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💵 績效獎金：【待填寫計算方式】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💵 年終獎金：【待填寫規則】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📅 發薪日：每月 __ 號</a:t>
            </a:r>
          </a:p>
          <a:p>
            <a:pPr>
              <a:defRPr sz="1400">
                <a:solidFill>
                  <a:srgbClr val="505050"/>
                </a:solidFill>
              </a:defRPr>
            </a:pP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保險福利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✅ 勞保、健保（到職日起算）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✅ 團體保險：【待填寫】</a:t>
            </a:r>
          </a:p>
          <a:p>
            <a:pPr>
              <a:defRPr sz="1400">
                <a:solidFill>
                  <a:srgbClr val="505050"/>
                </a:solidFill>
              </a:defRPr>
            </a:pP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休假制度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🏖️ 特休：到職滿 __ 個月後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🏥 病假、事假：【待填寫規定】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📅 國定假日：依勞基法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📝 請假與加班規定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05050"/>
                </a:solidFill>
              </a:defRPr>
            </a:pPr>
            <a:r>
              <a:t>請假流程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1. 透過 【系統/LINE/紙本】 申請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2. 需提前 __ 天（小時）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3. 由 【直屬主管/Ken】 批准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4. 緊急狀況請電話聯絡主管</a:t>
            </a:r>
          </a:p>
          <a:p>
            <a:pPr>
              <a:defRPr sz="1600">
                <a:solidFill>
                  <a:srgbClr val="505050"/>
                </a:solidFill>
              </a:defRPr>
            </a:pP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加班規定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⏰ 加班費計算：【待填寫】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🔄 補休規則：【待填寫】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📋 加班需事前申請，主管同意後執行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4754880"/>
            <a:ext cx="6400800" cy="914400"/>
          </a:xfrm>
          <a:prstGeom prst="rect">
            <a:avLst/>
          </a:prstGeom>
          <a:solidFill>
            <a:srgbClr val="FFF3CD"/>
          </a:solidFill>
          <a:ln w="381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489204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56404"/>
                </a:solidFill>
              </a:defRPr>
            </a:pPr>
            <a:r>
              <a:t>⚠️ 重要提醒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5303520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週會（每週二下午 2:00）為固定會議，若無法參加需提前告知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📆 第一週工作計畫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Day 1 - 報到日</a:t>
            </a:r>
          </a:p>
          <a:p>
            <a:pPr lvl="1">
              <a:defRPr sz="1400">
                <a:solidFill>
                  <a:srgbClr val="505050"/>
                </a:solidFill>
              </a:defRPr>
            </a:pPr>
            <a:r>
              <a:t>• 09:00 報到、填寫資料</a:t>
            </a:r>
          </a:p>
          <a:p>
            <a:pPr lvl="1">
              <a:defRPr sz="1400">
                <a:solidFill>
                  <a:srgbClr val="505050"/>
                </a:solidFill>
              </a:defRPr>
            </a:pPr>
            <a:r>
              <a:t>• 10:00 辦公環境介紹</a:t>
            </a:r>
          </a:p>
          <a:p>
            <a:pPr lvl="1">
              <a:defRPr sz="1400">
                <a:solidFill>
                  <a:srgbClr val="505050"/>
                </a:solidFill>
              </a:defRPr>
            </a:pPr>
            <a:r>
              <a:t>• 11:00 系統帳號開通</a:t>
            </a:r>
          </a:p>
          <a:p>
            <a:pPr lvl="1">
              <a:defRPr sz="1400">
                <a:solidFill>
                  <a:srgbClr val="505050"/>
                </a:solidFill>
              </a:defRPr>
            </a:pPr>
            <a:r>
              <a:t>• 14:00 新人簡報講解（本簡報）</a:t>
            </a:r>
          </a:p>
          <a:p>
            <a:pPr lvl="1">
              <a:defRPr sz="1400">
                <a:solidFill>
                  <a:srgbClr val="505050"/>
                </a:solidFill>
              </a:defRPr>
            </a:pPr>
            <a:r>
              <a:t>• 16:00 認識團隊成員</a:t>
            </a:r>
          </a:p>
          <a:p>
            <a:pPr>
              <a:defRPr sz="1400">
                <a:solidFill>
                  <a:srgbClr val="505050"/>
                </a:solidFill>
              </a:defRPr>
            </a:pP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Day 2-3 - 熟悉階段</a:t>
            </a:r>
          </a:p>
          <a:p>
            <a:pPr lvl="1">
              <a:defRPr sz="1400">
                <a:solidFill>
                  <a:srgbClr val="505050"/>
                </a:solidFill>
              </a:defRPr>
            </a:pPr>
            <a:r>
              <a:t>• 系統操作教學</a:t>
            </a:r>
          </a:p>
          <a:p>
            <a:pPr lvl="1">
              <a:defRPr sz="1400">
                <a:solidFill>
                  <a:srgbClr val="505050"/>
                </a:solidFill>
              </a:defRPr>
            </a:pPr>
            <a:r>
              <a:t>• 跟著前輩觀察工作流程</a:t>
            </a:r>
          </a:p>
          <a:p>
            <a:pPr lvl="1">
              <a:defRPr sz="1400">
                <a:solidFill>
                  <a:srgbClr val="505050"/>
                </a:solidFill>
              </a:defRPr>
            </a:pPr>
            <a:r>
              <a:t>• 閱讀 SOP 文件</a:t>
            </a:r>
          </a:p>
          <a:p>
            <a:pPr lvl="1">
              <a:defRPr sz="1400">
                <a:solidFill>
                  <a:srgbClr val="505050"/>
                </a:solidFill>
              </a:defRPr>
            </a:pPr>
            <a:r>
              <a:t>• 提出疑問、記錄重點</a:t>
            </a:r>
          </a:p>
          <a:p>
            <a:pPr>
              <a:defRPr sz="1400">
                <a:solidFill>
                  <a:srgbClr val="505050"/>
                </a:solidFill>
              </a:defRPr>
            </a:pP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Day 4-5 - 實作階段</a:t>
            </a:r>
          </a:p>
          <a:p>
            <a:pPr lvl="1">
              <a:defRPr sz="1400">
                <a:solidFill>
                  <a:srgbClr val="505050"/>
                </a:solidFill>
              </a:defRPr>
            </a:pPr>
            <a:r>
              <a:t>• 開始簡單任務（有人帶著做）</a:t>
            </a:r>
          </a:p>
          <a:p>
            <a:pPr lvl="1">
              <a:defRPr sz="1400">
                <a:solidFill>
                  <a:srgbClr val="505050"/>
                </a:solidFill>
              </a:defRPr>
            </a:pPr>
            <a:r>
              <a:t>• 實際操作系統</a:t>
            </a:r>
          </a:p>
          <a:p>
            <a:pPr lvl="1">
              <a:defRPr sz="1400">
                <a:solidFill>
                  <a:srgbClr val="505050"/>
                </a:solidFill>
              </a:defRPr>
            </a:pPr>
            <a:r>
              <a:t>• 第一週回顧會議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🎯 各職位職責與 KPI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05050"/>
                </a:solidFill>
              </a:defRPr>
            </a:pPr>
            <a:r>
              <a:t>業務（小圓）</a:t>
            </a:r>
          </a:p>
          <a:p>
            <a:pPr>
              <a:defRPr sz="1300">
                <a:solidFill>
                  <a:srgbClr val="505050"/>
                </a:solidFill>
              </a:defRPr>
            </a:pPr>
            <a:r>
              <a:t>日常工作：</a:t>
            </a:r>
          </a:p>
          <a:p>
            <a:pPr lvl="1">
              <a:defRPr sz="1300">
                <a:solidFill>
                  <a:srgbClr val="505050"/>
                </a:solidFill>
              </a:defRPr>
            </a:pPr>
            <a:r>
              <a:t>  • 加盟諮詢接待</a:t>
            </a:r>
          </a:p>
          <a:p>
            <a:pPr lvl="1">
              <a:defRPr sz="1300">
                <a:solidFill>
                  <a:srgbClr val="505050"/>
                </a:solidFill>
              </a:defRPr>
            </a:pPr>
            <a:r>
              <a:t>  • 店家裝潢監工</a:t>
            </a:r>
          </a:p>
          <a:p>
            <a:pPr lvl="1">
              <a:defRPr sz="1300">
                <a:solidFill>
                  <a:srgbClr val="505050"/>
                </a:solidFill>
              </a:defRPr>
            </a:pPr>
            <a:r>
              <a:t>  • 材料訂購追蹤</a:t>
            </a:r>
          </a:p>
          <a:p>
            <a:pPr lvl="1">
              <a:defRPr sz="1300">
                <a:solidFill>
                  <a:srgbClr val="505050"/>
                </a:solidFill>
              </a:defRPr>
            </a:pPr>
            <a:r>
              <a:t>  • 客戶關係維護</a:t>
            </a:r>
          </a:p>
          <a:p>
            <a:pPr>
              <a:defRPr sz="1300">
                <a:solidFill>
                  <a:srgbClr val="505050"/>
                </a:solidFill>
              </a:defRPr>
            </a:pPr>
            <a:r>
              <a:t>KPI 指標：</a:t>
            </a:r>
          </a:p>
          <a:p>
            <a:pPr lvl="1">
              <a:defRPr sz="1300">
                <a:solidFill>
                  <a:srgbClr val="505050"/>
                </a:solidFill>
              </a:defRPr>
            </a:pPr>
            <a:r>
              <a:t>  • 每月新簽約店數</a:t>
            </a:r>
          </a:p>
          <a:p>
            <a:pPr lvl="1">
              <a:defRPr sz="1300">
                <a:solidFill>
                  <a:srgbClr val="505050"/>
                </a:solidFill>
              </a:defRPr>
            </a:pPr>
            <a:r>
              <a:t>  • 裝潢準時完工率</a:t>
            </a:r>
          </a:p>
          <a:p>
            <a:pPr lvl="1">
              <a:defRPr sz="1300">
                <a:solidFill>
                  <a:srgbClr val="505050"/>
                </a:solidFill>
              </a:defRPr>
            </a:pPr>
            <a:r>
              <a:t>  • 客戶滿意度</a:t>
            </a:r>
          </a:p>
          <a:p>
            <a:pPr lvl="1">
              <a:defRPr sz="1300">
                <a:solidFill>
                  <a:srgbClr val="505050"/>
                </a:solidFill>
              </a:defRPr>
            </a:pPr>
            <a:r>
              <a:t>  • 【待補充】</a:t>
            </a:r>
          </a:p>
          <a:p>
            <a:pPr>
              <a:defRPr sz="1300">
                <a:solidFill>
                  <a:srgbClr val="505050"/>
                </a:solidFill>
              </a:defRPr>
            </a:pPr>
          </a:p>
          <a:p>
            <a:pPr>
              <a:defRPr sz="1300">
                <a:solidFill>
                  <a:srgbClr val="505050"/>
                </a:solidFill>
              </a:defRPr>
            </a:pPr>
            <a:r>
              <a:t>會計（小兔）</a:t>
            </a:r>
          </a:p>
          <a:p>
            <a:pPr>
              <a:defRPr sz="1300">
                <a:solidFill>
                  <a:srgbClr val="505050"/>
                </a:solidFill>
              </a:defRPr>
            </a:pPr>
            <a:r>
              <a:t>日常工作：帳務處理、報表製作、發票開立、薪資計算</a:t>
            </a:r>
          </a:p>
          <a:p>
            <a:pPr>
              <a:defRPr sz="1300">
                <a:solidFill>
                  <a:srgbClr val="505050"/>
                </a:solidFill>
              </a:defRPr>
            </a:pPr>
            <a:r>
              <a:t>KPI 指標：帳務正確率、報表準時繳交、【待補充】</a:t>
            </a:r>
          </a:p>
          <a:p>
            <a:pPr>
              <a:defRPr sz="1300">
                <a:solidFill>
                  <a:srgbClr val="505050"/>
                </a:solidFill>
              </a:defRPr>
            </a:pPr>
          </a:p>
          <a:p>
            <a:pPr>
              <a:defRPr sz="1300">
                <a:solidFill>
                  <a:srgbClr val="505050"/>
                </a:solidFill>
              </a:defRPr>
            </a:pPr>
            <a:r>
              <a:t>💡 具體 KPI 數字與考核標準將由主管說明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🔧 系統操作教學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內部系統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🏪 ONE桌遊管理系統</a:t>
            </a:r>
          </a:p>
          <a:p>
            <a:pPr lvl="1">
              <a:defRPr sz="1400">
                <a:solidFill>
                  <a:srgbClr val="505050"/>
                </a:solidFill>
              </a:defRPr>
            </a:pPr>
            <a:r>
              <a:t>  店家管理、訂單、會員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📦 倉儲管理系統</a:t>
            </a:r>
          </a:p>
          <a:p>
            <a:pPr lvl="1">
              <a:defRPr sz="1400">
                <a:solidFill>
                  <a:srgbClr val="505050"/>
                </a:solidFill>
              </a:defRPr>
            </a:pPr>
            <a:r>
              <a:t>  庫存、進出貨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🤖 AI 客服系統</a:t>
            </a:r>
          </a:p>
          <a:p>
            <a:pPr lvl="1">
              <a:defRPr sz="1400">
                <a:solidFill>
                  <a:srgbClr val="505050"/>
                </a:solidFill>
              </a:defRPr>
            </a:pPr>
            <a:r>
              <a:t>  自動回覆、問題分類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🧹 打掃系統</a:t>
            </a:r>
          </a:p>
          <a:p>
            <a:pPr lvl="1">
              <a:defRPr sz="1400">
                <a:solidFill>
                  <a:srgbClr val="505050"/>
                </a:solidFill>
              </a:defRPr>
            </a:pPr>
            <a:r>
              <a:t>  任務派發、進度追蹤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64592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AI 工具輔助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💬 ChatGPT / Claude</a:t>
            </a:r>
          </a:p>
          <a:p>
            <a:pPr lvl="1">
              <a:defRPr sz="1400">
                <a:solidFill>
                  <a:srgbClr val="505050"/>
                </a:solidFill>
              </a:defRPr>
            </a:pPr>
            <a:r>
              <a:t>  資料整理、文案撰寫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📄 Google Workspace</a:t>
            </a:r>
          </a:p>
          <a:p>
            <a:pPr lvl="1">
              <a:defRPr sz="1400">
                <a:solidFill>
                  <a:srgbClr val="505050"/>
                </a:solidFill>
              </a:defRPr>
            </a:pPr>
            <a:r>
              <a:t>  文件協作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📱 LINE</a:t>
            </a:r>
          </a:p>
          <a:p>
            <a:pPr lvl="1">
              <a:defRPr sz="1400">
                <a:solidFill>
                  <a:srgbClr val="505050"/>
                </a:solidFill>
              </a:defRPr>
            </a:pPr>
            <a:r>
              <a:t>  即時溝通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💻 GitHub</a:t>
            </a:r>
          </a:p>
          <a:p>
            <a:pPr lvl="1">
              <a:defRPr sz="1400">
                <a:solidFill>
                  <a:srgbClr val="505050"/>
                </a:solidFill>
              </a:defRPr>
            </a:pPr>
            <a:r>
              <a:t>  程式碼管理（技術）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5029200"/>
            <a:ext cx="6400800" cy="731520"/>
          </a:xfrm>
          <a:prstGeom prst="rect">
            <a:avLst/>
          </a:prstGeom>
          <a:solidFill>
            <a:srgbClr val="D1ECF1"/>
          </a:solidFill>
          <a:ln w="38100">
            <a:solidFill>
              <a:srgbClr val="17A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516636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C5460"/>
                </a:solidFill>
              </a:defRPr>
            </a:pPr>
            <a:r>
              <a:t>💡 帳號密碼由【IT/主管】提供，操作手冊請參考【Google Drive 連結】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🚨 緊急處理流程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</a:defRPr>
            </a:pPr>
            <a:r>
              <a:t>店家緊急狀況</a:t>
            </a:r>
          </a:p>
          <a:p>
            <a:pPr lvl="1">
              <a:defRPr sz="1400">
                <a:solidFill>
                  <a:srgbClr val="505050"/>
                </a:solidFill>
              </a:defRPr>
            </a:pPr>
            <a:r>
              <a:t>• 門鎖故障（客戶鎖在裡面）→ 安撫客戶 → 遠端嘗試開鎖 → 通知業務</a:t>
            </a:r>
          </a:p>
          <a:p>
            <a:pPr lvl="1">
              <a:defRPr sz="1400">
                <a:solidFill>
                  <a:srgbClr val="505050"/>
                </a:solidFill>
              </a:defRPr>
            </a:pPr>
            <a:r>
              <a:t>• 設備故障（麻將桌、冷氣）→ 記錄問題 → 通知業務 → 派工維修</a:t>
            </a:r>
          </a:p>
          <a:p>
            <a:pPr lvl="1">
              <a:defRPr sz="1400">
                <a:solidFill>
                  <a:srgbClr val="505050"/>
                </a:solidFill>
              </a:defRPr>
            </a:pPr>
            <a:r>
              <a:t>• 客訴處理（鄰居噪音等）→ 了解情況 → 安撫客戶 → 通報主管</a:t>
            </a:r>
          </a:p>
          <a:p>
            <a:pPr lvl="1">
              <a:defRPr sz="1400">
                <a:solidFill>
                  <a:srgbClr val="505050"/>
                </a:solidFill>
              </a:defRPr>
            </a:pPr>
            <a:r>
              <a:t>• 系統當機 → 確認範圍 → 通知技術 → 暫用備案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4114800"/>
            <a:ext cx="6400800" cy="1828800"/>
          </a:xfrm>
          <a:prstGeom prst="rect">
            <a:avLst/>
          </a:prstGeom>
          <a:solidFill>
            <a:srgbClr val="FFF3CD"/>
          </a:solidFill>
          <a:ln w="381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42519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56404"/>
                </a:solidFill>
              </a:defRPr>
            </a:pPr>
            <a:r>
              <a:t>⚠️ 緊急聯絡人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4663440"/>
            <a:ext cx="6035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Ken（總經理）- 【0912-XXX-XXX】</a:t>
            </a:r>
          </a:p>
          <a:p>
            <a:pPr>
              <a:defRPr sz="1600"/>
            </a:pPr>
            <a:r>
              <a:t>建佑（負責人）- 【0912-XXX-XXX】</a:t>
            </a:r>
          </a:p>
          <a:p>
            <a:pPr>
              <a:defRPr sz="1600"/>
            </a:pPr>
            <a:r>
              <a:t>小圓（業務）- 【0912-XXX-XXX】</a:t>
            </a:r>
          </a:p>
          <a:p>
            <a:pPr>
              <a:defRPr sz="1600"/>
            </a:pPr>
            <a:r>
              <a:t>技術支援 - 【0912-XXX-XXX】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❓ 常見問題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05050"/>
                </a:solidFill>
              </a:defRPr>
            </a:pPr>
            <a:r>
              <a:t>關於工作</a:t>
            </a:r>
          </a:p>
          <a:p>
            <a:pPr>
              <a:defRPr sz="1200">
                <a:solidFill>
                  <a:srgbClr val="505050"/>
                </a:solidFill>
              </a:defRPr>
            </a:pPr>
            <a:r>
              <a:t>Q: 忘記打卡怎麼辦？</a:t>
            </a:r>
          </a:p>
          <a:p>
            <a:pPr>
              <a:defRPr sz="1200">
                <a:solidFill>
                  <a:srgbClr val="505050"/>
                </a:solidFill>
              </a:defRPr>
            </a:pPr>
            <a:r>
              <a:t>A: 【待填寫流程】</a:t>
            </a:r>
          </a:p>
          <a:p>
            <a:pPr>
              <a:defRPr sz="1200">
                <a:solidFill>
                  <a:srgbClr val="505050"/>
                </a:solidFill>
              </a:defRPr>
            </a:pPr>
          </a:p>
          <a:p>
            <a:pPr>
              <a:defRPr sz="1200">
                <a:solidFill>
                  <a:srgbClr val="505050"/>
                </a:solidFill>
              </a:defRPr>
            </a:pPr>
            <a:r>
              <a:t>Q: 臨時請假要找誰？</a:t>
            </a:r>
          </a:p>
          <a:p>
            <a:pPr>
              <a:defRPr sz="1200">
                <a:solidFill>
                  <a:srgbClr val="505050"/>
                </a:solidFill>
              </a:defRPr>
            </a:pPr>
            <a:r>
              <a:t>A: 先告知直屬主管，</a:t>
            </a:r>
          </a:p>
          <a:p>
            <a:pPr lvl="1">
              <a:defRPr sz="1200">
                <a:solidFill>
                  <a:srgbClr val="505050"/>
                </a:solidFill>
              </a:defRPr>
            </a:pPr>
            <a:r>
              <a:t>   再填寫請假單</a:t>
            </a:r>
          </a:p>
          <a:p>
            <a:pPr>
              <a:defRPr sz="1200">
                <a:solidFill>
                  <a:srgbClr val="505050"/>
                </a:solidFill>
              </a:defRPr>
            </a:pPr>
          </a:p>
          <a:p>
            <a:pPr>
              <a:defRPr sz="1200">
                <a:solidFill>
                  <a:srgbClr val="505050"/>
                </a:solidFill>
              </a:defRPr>
            </a:pPr>
            <a:r>
              <a:t>Q: 系統登不進去找誰？</a:t>
            </a:r>
          </a:p>
          <a:p>
            <a:pPr>
              <a:defRPr sz="1200">
                <a:solidFill>
                  <a:srgbClr val="505050"/>
                </a:solidFill>
              </a:defRPr>
            </a:pPr>
            <a:r>
              <a:t>A: 【IT 支援聯絡方式】</a:t>
            </a:r>
          </a:p>
          <a:p>
            <a:pPr>
              <a:defRPr sz="1200">
                <a:solidFill>
                  <a:srgbClr val="505050"/>
                </a:solidFill>
              </a:defRPr>
            </a:pPr>
          </a:p>
          <a:p>
            <a:pPr>
              <a:defRPr sz="1200">
                <a:solidFill>
                  <a:srgbClr val="505050"/>
                </a:solidFill>
              </a:defRPr>
            </a:pPr>
            <a:r>
              <a:t>Q: 週會沒空參加？</a:t>
            </a:r>
          </a:p>
          <a:p>
            <a:pPr>
              <a:defRPr sz="1200">
                <a:solidFill>
                  <a:srgbClr val="505050"/>
                </a:solidFill>
              </a:defRPr>
            </a:pPr>
            <a:r>
              <a:t>A: 需提前告知 Ken，</a:t>
            </a:r>
          </a:p>
          <a:p>
            <a:pPr lvl="1">
              <a:defRPr sz="1200">
                <a:solidFill>
                  <a:srgbClr val="505050"/>
                </a:solidFill>
              </a:defRPr>
            </a:pPr>
            <a:r>
              <a:t>   並事後補看會議記錄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64592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505050"/>
                </a:solidFill>
              </a:defRPr>
            </a:pPr>
            <a:r>
              <a:t>關於公司</a:t>
            </a:r>
          </a:p>
          <a:p>
            <a:pPr>
              <a:defRPr sz="1200">
                <a:solidFill>
                  <a:srgbClr val="505050"/>
                </a:solidFill>
              </a:defRPr>
            </a:pPr>
            <a:r>
              <a:t>Q: 午餐公司有提供嗎？</a:t>
            </a:r>
          </a:p>
          <a:p>
            <a:pPr>
              <a:defRPr sz="1200">
                <a:solidFill>
                  <a:srgbClr val="505050"/>
                </a:solidFill>
              </a:defRPr>
            </a:pPr>
            <a:r>
              <a:t>A: 【待填寫】</a:t>
            </a:r>
          </a:p>
          <a:p>
            <a:pPr>
              <a:defRPr sz="1200">
                <a:solidFill>
                  <a:srgbClr val="505050"/>
                </a:solidFill>
              </a:defRPr>
            </a:pPr>
          </a:p>
          <a:p>
            <a:pPr>
              <a:defRPr sz="1200">
                <a:solidFill>
                  <a:srgbClr val="505050"/>
                </a:solidFill>
              </a:defRPr>
            </a:pPr>
            <a:r>
              <a:t>Q: 停車位在哪？</a:t>
            </a:r>
          </a:p>
          <a:p>
            <a:pPr>
              <a:defRPr sz="1200">
                <a:solidFill>
                  <a:srgbClr val="505050"/>
                </a:solidFill>
              </a:defRPr>
            </a:pPr>
            <a:r>
              <a:t>A: 【待填寫位置】</a:t>
            </a:r>
          </a:p>
          <a:p>
            <a:pPr>
              <a:defRPr sz="1200">
                <a:solidFill>
                  <a:srgbClr val="505050"/>
                </a:solidFill>
              </a:defRPr>
            </a:pPr>
          </a:p>
          <a:p>
            <a:pPr>
              <a:defRPr sz="1200">
                <a:solidFill>
                  <a:srgbClr val="505050"/>
                </a:solidFill>
              </a:defRPr>
            </a:pPr>
            <a:r>
              <a:t>Q: 可以在家工作嗎？</a:t>
            </a:r>
          </a:p>
          <a:p>
            <a:pPr>
              <a:defRPr sz="1200">
                <a:solidFill>
                  <a:srgbClr val="505050"/>
                </a:solidFill>
              </a:defRPr>
            </a:pPr>
            <a:r>
              <a:t>A: 【待填寫遠端政策】</a:t>
            </a:r>
          </a:p>
          <a:p>
            <a:pPr>
              <a:defRPr sz="1200">
                <a:solidFill>
                  <a:srgbClr val="505050"/>
                </a:solidFill>
              </a:defRPr>
            </a:pPr>
          </a:p>
          <a:p>
            <a:pPr>
              <a:defRPr sz="1200">
                <a:solidFill>
                  <a:srgbClr val="505050"/>
                </a:solidFill>
              </a:defRPr>
            </a:pPr>
            <a:r>
              <a:t>Q: 多久會調薪？</a:t>
            </a:r>
          </a:p>
          <a:p>
            <a:pPr>
              <a:defRPr sz="1200">
                <a:solidFill>
                  <a:srgbClr val="505050"/>
                </a:solidFill>
              </a:defRPr>
            </a:pPr>
            <a:r>
              <a:t>A: 【待填寫考核週期】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📚 成功/失敗案例分享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645920"/>
            <a:ext cx="6400800" cy="1097280"/>
          </a:xfrm>
          <a:prstGeom prst="rect">
            <a:avLst/>
          </a:prstGeom>
          <a:solidFill>
            <a:srgbClr val="27A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178308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✅ 成功案例：善用 AI 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224028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情境：整理 100 家店的營收報表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傳統做法：手動 Excel，需要 7 天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AI 做法：用 Claude 寫腳本，3 天完成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學到：善用工具可大幅提升效率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926080"/>
            <a:ext cx="6400800" cy="1097280"/>
          </a:xfrm>
          <a:prstGeom prst="rect">
            <a:avLst/>
          </a:prstGeom>
          <a:solidFill>
            <a:srgbClr val="27A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306324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✅ 成功案例：主動發現問題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52044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情境：發現某供應商報價異常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做法：主動比價、提出質疑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結果：省下 50 萬成本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學到：要有「老闆思維」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206240"/>
            <a:ext cx="6400800" cy="1645920"/>
          </a:xfrm>
          <a:prstGeom prst="rect">
            <a:avLst/>
          </a:prstGeom>
          <a:solidFill>
            <a:srgbClr val="FFF3CD"/>
          </a:solidFill>
          <a:ln w="381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434340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56404"/>
                </a:solidFill>
              </a:defRPr>
            </a:pPr>
            <a:r>
              <a:t>❌ 失敗案例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4754880"/>
            <a:ext cx="6035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案例 1：說「我不會」導致延誤</a:t>
            </a:r>
          </a:p>
          <a:p>
            <a:pPr>
              <a:defRPr sz="1600"/>
            </a:pPr>
            <a:r>
              <a:t>  情境：收到任務直接說不會，等主管教</a:t>
            </a:r>
          </a:p>
          <a:p>
            <a:pPr>
              <a:defRPr sz="1600"/>
            </a:pPr>
            <a:r>
              <a:t>  結果：錯過截止日，影響整個專案</a:t>
            </a:r>
          </a:p>
          <a:p>
            <a:pPr>
              <a:defRPr sz="1600"/>
            </a:pPr>
            <a:r>
              <a:t>  教訓：先嘗試用 AI/Google 找答案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案例 2：溝通不確實導致誤會</a:t>
            </a:r>
          </a:p>
          <a:p>
            <a:pPr>
              <a:defRPr sz="1600"/>
            </a:pPr>
            <a:r>
              <a:t>  教訓：重要事項要確認對方收到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🌟 公司願景與目標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05050"/>
                </a:solidFill>
              </a:defRPr>
            </a:pPr>
            <a:r>
              <a:t>短期目標（1 年內）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📈 拓展到 150 家店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🤖 AI 客服系統全面導入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🎯 開發新產品線（除了麻將桌遊）</a:t>
            </a:r>
          </a:p>
          <a:p>
            <a:pPr>
              <a:defRPr sz="1600">
                <a:solidFill>
                  <a:srgbClr val="505050"/>
                </a:solidFill>
              </a:defRPr>
            </a:pP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中期目標（3 年內）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🏆 成為全台最大自助娛樂品牌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🌏 進軍海外市場（香港、新加坡）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🎓 建立加盟主培訓學院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4754880"/>
            <a:ext cx="6400800" cy="1188720"/>
          </a:xfrm>
          <a:prstGeom prst="rect">
            <a:avLst/>
          </a:prstGeom>
          <a:solidFill>
            <a:srgbClr val="27A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489204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長期願景（5 年+）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534924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✨ 重新定義休閒娛樂產業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✨ AI 驅動的無人營運標準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✨ 成為產業標竿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🔒 保密與資訊安全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05050"/>
                </a:solidFill>
              </a:defRPr>
            </a:pPr>
            <a:r>
              <a:t>保密協議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🔐 客戶資料不外流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🔐 營收數據不公開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🔐 AI 系統程式碼不外傳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🔐 內部溝通記錄不截圖外傳</a:t>
            </a:r>
          </a:p>
          <a:p>
            <a:pPr>
              <a:defRPr sz="1600">
                <a:solidFill>
                  <a:srgbClr val="505050"/>
                </a:solidFill>
              </a:defRPr>
            </a:pP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資訊安全規範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🔑 密碼設定：至少 12 字元，含英數符號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🔑 禁止共用帳號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🔑 離職時交還所有資料與權限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🔑 LINE 群組截圖禁止外傳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5029200"/>
            <a:ext cx="6400800" cy="914400"/>
          </a:xfrm>
          <a:prstGeom prst="rect">
            <a:avLst/>
          </a:prstGeom>
          <a:solidFill>
            <a:srgbClr val="FFF3CD"/>
          </a:solidFill>
          <a:ln w="381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51663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56404"/>
                </a:solidFill>
              </a:defRPr>
            </a:pPr>
            <a:r>
              <a:t>⚠️ 違規後果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5577840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第一次：書面警告 | 第二次：記過處分</a:t>
            </a:r>
          </a:p>
          <a:p>
            <a:pPr>
              <a:defRPr sz="1600"/>
            </a:pPr>
            <a:r>
              <a:t>嚴重違規：立即解雇 + 法律追訴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🏢 辦公室實務資訊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05050"/>
                </a:solidFill>
              </a:defRPr>
            </a:pPr>
            <a:r>
              <a:t>上下班時間</a:t>
            </a:r>
          </a:p>
          <a:p>
            <a:pPr>
              <a:defRPr sz="1500">
                <a:solidFill>
                  <a:srgbClr val="505050"/>
                </a:solidFill>
              </a:defRPr>
            </a:pPr>
            <a:r>
              <a:t>⏰ 正常工時：【9:00-18:00（待確認）】</a:t>
            </a:r>
          </a:p>
          <a:p>
            <a:pPr>
              <a:defRPr sz="1500">
                <a:solidFill>
                  <a:srgbClr val="505050"/>
                </a:solidFill>
              </a:defRPr>
            </a:pPr>
            <a:r>
              <a:t>⏰ 彈性工時：【待填寫】</a:t>
            </a:r>
          </a:p>
          <a:p>
            <a:pPr>
              <a:defRPr sz="1500">
                <a:solidFill>
                  <a:srgbClr val="505050"/>
                </a:solidFill>
              </a:defRPr>
            </a:pPr>
            <a:r>
              <a:t>🍱 午休時間：【12:00-13:00（待確認）】</a:t>
            </a:r>
          </a:p>
          <a:p>
            <a:pPr>
              <a:defRPr sz="1500">
                <a:solidFill>
                  <a:srgbClr val="505050"/>
                </a:solidFill>
              </a:defRPr>
            </a:pPr>
          </a:p>
          <a:p>
            <a:pPr>
              <a:defRPr sz="1500">
                <a:solidFill>
                  <a:srgbClr val="505050"/>
                </a:solidFill>
              </a:defRPr>
            </a:pPr>
            <a:r>
              <a:t>辦公地點</a:t>
            </a:r>
          </a:p>
          <a:p>
            <a:pPr>
              <a:defRPr sz="1500">
                <a:solidFill>
                  <a:srgbClr val="505050"/>
                </a:solidFill>
              </a:defRPr>
            </a:pPr>
            <a:r>
              <a:t>📍 地址：【待填寫完整地址】</a:t>
            </a:r>
          </a:p>
          <a:p>
            <a:pPr>
              <a:defRPr sz="1500">
                <a:solidFill>
                  <a:srgbClr val="505050"/>
                </a:solidFill>
              </a:defRPr>
            </a:pPr>
            <a:r>
              <a:t>🚗 停車資訊：【待填寫】</a:t>
            </a:r>
          </a:p>
          <a:p>
            <a:pPr>
              <a:defRPr sz="1500">
                <a:solidFill>
                  <a:srgbClr val="505050"/>
                </a:solidFill>
              </a:defRPr>
            </a:pPr>
            <a:r>
              <a:t>🔑 門禁卡取得：【待填寫流程】</a:t>
            </a:r>
          </a:p>
          <a:p>
            <a:pPr>
              <a:defRPr sz="1500">
                <a:solidFill>
                  <a:srgbClr val="505050"/>
                </a:solidFill>
              </a:defRPr>
            </a:pPr>
          </a:p>
          <a:p>
            <a:pPr>
              <a:defRPr sz="1500">
                <a:solidFill>
                  <a:srgbClr val="505050"/>
                </a:solidFill>
              </a:defRPr>
            </a:pPr>
            <a:r>
              <a:t>辦公環境</a:t>
            </a:r>
          </a:p>
          <a:p>
            <a:pPr>
              <a:defRPr sz="1500">
                <a:solidFill>
                  <a:srgbClr val="505050"/>
                </a:solidFill>
              </a:defRPr>
            </a:pPr>
            <a:r>
              <a:t>☕ 茶水間：【位置】</a:t>
            </a:r>
          </a:p>
          <a:p>
            <a:pPr>
              <a:defRPr sz="1500">
                <a:solidFill>
                  <a:srgbClr val="505050"/>
                </a:solidFill>
              </a:defRPr>
            </a:pPr>
            <a:r>
              <a:t>🚻 洗手間：【位置】</a:t>
            </a:r>
          </a:p>
          <a:p>
            <a:pPr>
              <a:defRPr sz="1500">
                <a:solidFill>
                  <a:srgbClr val="505050"/>
                </a:solidFill>
              </a:defRPr>
            </a:pPr>
            <a:r>
              <a:t>💻 會議室使用：【預約方式】</a:t>
            </a:r>
          </a:p>
          <a:p>
            <a:pPr>
              <a:defRPr sz="1500">
                <a:solidFill>
                  <a:srgbClr val="505050"/>
                </a:solidFill>
              </a:defRPr>
            </a:pPr>
            <a:r>
              <a:t>♻️ 垃圾分類：【規則】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📈 職涯發展與成長機會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公司處於快速發展期，機會很多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📊 從執行 → 管理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📊 從單一職能 → 跨領域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📊 從傳統工作 → AI 協作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📊 從員工 → 核心夥伴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3474720"/>
            <a:ext cx="6400800" cy="2286000"/>
          </a:xfrm>
          <a:prstGeom prst="rect">
            <a:avLst/>
          </a:prstGeom>
          <a:solidFill>
            <a:srgbClr val="27A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361188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你將學到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4069080"/>
            <a:ext cx="6035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🎯 AI 時代的工作方法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🎯 快速成長企業的營運模式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🎯 多系統整合的實戰經驗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🎯 從 0 到 1 建立新事業的能力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🌟 公司文化與價值觀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645920"/>
            <a:ext cx="2011680" cy="1645920"/>
          </a:xfrm>
          <a:prstGeom prst="rect">
            <a:avLst/>
          </a:prstGeom>
          <a:solidFill>
            <a:srgbClr val="27A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783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000000"/>
                </a:solidFill>
              </a:defRPr>
            </a:pPr>
            <a:r>
              <a:t>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快速行動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697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想到就做</a:t>
            </a:r>
            <a:br/>
            <a:r>
              <a:t>邊做邊調整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1645920"/>
            <a:ext cx="2011680" cy="1645920"/>
          </a:xfrm>
          <a:prstGeom prst="rect">
            <a:avLst/>
          </a:prstGeom>
          <a:solidFill>
            <a:srgbClr val="27A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783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000000"/>
                </a:solidFill>
              </a:defRPr>
            </a:pPr>
            <a:r>
              <a:t>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團隊協作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697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一起衝刺</a:t>
            </a:r>
            <a:br/>
            <a:r>
              <a:t>共享成果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645920"/>
            <a:ext cx="2011680" cy="1645920"/>
          </a:xfrm>
          <a:prstGeom prst="rect">
            <a:avLst/>
          </a:prstGeom>
          <a:solidFill>
            <a:srgbClr val="27A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1783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000000"/>
                </a:solidFill>
              </a:defRPr>
            </a:pPr>
            <a:r>
              <a:t>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擁抱創新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697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用 AI</a:t>
            </a:r>
            <a:br/>
            <a:r>
              <a:t>用新工具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6576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我們相信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⭐ 工具比經驗重要（AI 時代）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⭐ 思考比執行重要（會思考才能駕馭工具）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⭐ 速度比完美重要（快速迭代）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⭐ 成長比穩定重要（發展期的選擇）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C3E50"/>
                </a:solidFill>
              </a:defRPr>
            </a:pPr>
            <a:r>
              <a:t>一起衝刺未來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377440"/>
            <a:ext cx="6400800" cy="2743200"/>
          </a:xfrm>
          <a:prstGeom prst="rect">
            <a:avLst/>
          </a:prstGeom>
          <a:solidFill>
            <a:srgbClr val="27A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2514600"/>
            <a:ext cx="60350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你選擇加入我們，代表你認同我們的理念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這是一個快速成長的團隊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這是一個擁抱 AI 的時代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這是一個充滿機會的階段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讓我們一起駕馭工具、創造價值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7ACB2"/>
                </a:solidFill>
              </a:defRPr>
            </a:pPr>
            <a:r>
              <a:t>歡迎加入遊戲家！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📞 聯絡資訊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遊戲家資訊科技有限公司</a:t>
            </a:r>
          </a:p>
          <a:p>
            <a:pPr>
              <a:defRPr sz="1800">
                <a:solidFill>
                  <a:srgbClr val="505050"/>
                </a:solidFill>
              </a:defRPr>
            </a:pP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品牌：ONE桌遊 / 智摸科技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營運店家：105 家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會員數：10萬+</a:t>
            </a:r>
          </a:p>
          <a:p>
            <a:pPr>
              <a:defRPr sz="1800">
                <a:solidFill>
                  <a:srgbClr val="505050"/>
                </a:solidFill>
              </a:defRPr>
            </a:pP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地址：【待填寫】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電話：【待填寫】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Email：【待填寫】</a:t>
            </a:r>
          </a:p>
          <a:p>
            <a:pPr>
              <a:defRPr sz="1800">
                <a:solidFill>
                  <a:srgbClr val="505050"/>
                </a:solidFill>
              </a:defRPr>
            </a:pP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如有任何問題，歡迎隨時向直屬主管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或 Ken（阿建）總經理詢問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