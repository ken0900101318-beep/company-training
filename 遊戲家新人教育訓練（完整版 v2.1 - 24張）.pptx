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0" b="1">
                <a:solidFill>
                  <a:srgbClr val="2C3E50"/>
                </a:solidFill>
              </a:defRPr>
            </a:pPr>
            <a:r>
              <a:t>歡迎加入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92608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27ACB2"/>
                </a:solidFill>
              </a:defRPr>
            </a:pPr>
            <a:r>
              <a:t>遊戲家資訊科技有限公司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11480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>
                <a:solidFill>
                  <a:srgbClr val="646464"/>
                </a:solidFill>
              </a:defRPr>
            </a:pPr>
            <a:r>
              <a:t>新人教育訓練（完整版 - 24張）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C3E50"/>
                </a:solidFill>
              </a:defRPr>
            </a:pPr>
            <a:r>
              <a:t>🏢 公司概況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645920"/>
            <a:ext cx="2011680" cy="1371600"/>
          </a:xfrm>
          <a:prstGeom prst="rect">
            <a:avLst/>
          </a:prstGeom>
          <a:solidFill>
            <a:srgbClr val="27AC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92024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105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51460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</a:defRPr>
            </a:pPr>
            <a:r>
              <a:t>營運店家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0" y="1645920"/>
            <a:ext cx="2011680" cy="1371600"/>
          </a:xfrm>
          <a:prstGeom prst="rect">
            <a:avLst/>
          </a:prstGeom>
          <a:solidFill>
            <a:srgbClr val="27AC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0" y="192024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10萬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251460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</a:defRPr>
            </a:pPr>
            <a:r>
              <a:t>會員數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0" y="1645920"/>
            <a:ext cx="2011680" cy="1371600"/>
          </a:xfrm>
          <a:prstGeom prst="rect">
            <a:avLst/>
          </a:prstGeom>
          <a:solidFill>
            <a:srgbClr val="27AC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0" y="192024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24/7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51460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</a:defRPr>
            </a:pPr>
            <a:r>
              <a:t>無人營運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3474720"/>
            <a:ext cx="6400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3C3C3C"/>
                </a:solidFill>
              </a:defRPr>
            </a:pPr>
            <a:r>
              <a:t>ONE桌遊 - 自助桌遊館品牌</a:t>
            </a:r>
          </a:p>
          <a:p>
            <a:pPr>
              <a:defRPr sz="1800">
                <a:solidFill>
                  <a:srgbClr val="3C3C3C"/>
                </a:solidFill>
              </a:defRPr>
            </a:pPr>
            <a:r>
              <a:t>✅ 全台最大自助麻將桌遊連鎖品牌</a:t>
            </a:r>
          </a:p>
          <a:p>
            <a:pPr>
              <a:defRPr sz="1800">
                <a:solidFill>
                  <a:srgbClr val="3C3C3C"/>
                </a:solidFill>
              </a:defRPr>
            </a:pPr>
            <a:r>
              <a:t>✅ AI 智能管理系統（門鎖、監控、繳費）</a:t>
            </a:r>
          </a:p>
          <a:p>
            <a:pPr>
              <a:defRPr sz="1800">
                <a:solidFill>
                  <a:srgbClr val="3C3C3C"/>
                </a:solidFill>
              </a:defRPr>
            </a:pPr>
            <a:r>
              <a:t>✅ 24小時無人營運模式</a:t>
            </a:r>
          </a:p>
          <a:p>
            <a:pPr>
              <a:defRPr sz="1800">
                <a:solidFill>
                  <a:srgbClr val="3C3C3C"/>
                </a:solidFill>
              </a:defRPr>
            </a:pPr>
            <a:r>
              <a:t>✅ 子品牌「智摸科技」- 麻將自助系統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C3E50"/>
                </a:solidFill>
              </a:defRPr>
            </a:pPr>
            <a:r>
              <a:t>📖 品牌故事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6459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7ACB2"/>
                </a:solidFill>
              </a:defRPr>
            </a:pPr>
            <a:r>
              <a:t>2023/7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965960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05050"/>
                </a:solidFill>
              </a:defRPr>
            </a:pPr>
            <a:r>
              <a:t>第一家店開幕（無人概念，尚未導入AI）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65176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7ACB2"/>
                </a:solidFill>
              </a:defRPr>
            </a:pPr>
            <a:r>
              <a:t>2023年底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971800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05050"/>
                </a:solidFill>
              </a:defRPr>
            </a:pPr>
            <a:r>
              <a:t>拓展至 6 家店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65760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7ACB2"/>
                </a:solidFill>
              </a:defRPr>
            </a:pPr>
            <a:r>
              <a:t>2024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977640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05050"/>
                </a:solidFill>
              </a:defRPr>
            </a:pPr>
            <a:r>
              <a:t>快速擴張至 50 家店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466344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7ACB2"/>
                </a:solidFill>
              </a:defRPr>
            </a:pPr>
            <a:r>
              <a:t>2025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4983480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05050"/>
                </a:solidFill>
              </a:defRPr>
            </a:pPr>
            <a:r>
              <a:t>突破 100 家店，累積 10萬會員</a:t>
            </a:r>
            <a:br/>
            <a:r>
              <a:t>成立子品牌「智摸科技」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566928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7ACB2"/>
                </a:solidFill>
              </a:defRPr>
            </a:pPr>
            <a:r>
              <a:t>2025/11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5989320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05050"/>
                </a:solidFill>
              </a:defRPr>
            </a:pPr>
            <a:r>
              <a:t>正式導入 AI 技術</a:t>
            </a:r>
            <a:br/>
            <a:r>
              <a:t>智能客服、選址系統、營運分析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C3E50"/>
                </a:solidFill>
              </a:defRPr>
            </a:pPr>
            <a:r>
              <a:t>👥 核心團隊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828800"/>
            <a:ext cx="2926080" cy="1645920"/>
          </a:xfrm>
          <a:prstGeom prst="rect">
            <a:avLst/>
          </a:prstGeom>
          <a:solidFill>
            <a:srgbClr val="F8F9FA"/>
          </a:solidFill>
          <a:ln w="25400">
            <a:solidFill>
              <a:srgbClr val="27AC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201168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0">
                <a:solidFill>
                  <a:srgbClr val="505050"/>
                </a:solidFill>
              </a:defRPr>
            </a:pPr>
            <a:r>
              <a:t>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5603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2C3E50"/>
                </a:solidFill>
              </a:defRPr>
            </a:pPr>
            <a:r>
              <a:t>林建佑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9718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27ACB2"/>
                </a:solidFill>
              </a:defRPr>
            </a:pPr>
            <a:r>
              <a:t>負責人</a:t>
            </a:r>
          </a:p>
        </p:txBody>
      </p:sp>
      <p:sp>
        <p:nvSpPr>
          <p:cNvPr id="7" name="Rectangle 6"/>
          <p:cNvSpPr/>
          <p:nvPr/>
        </p:nvSpPr>
        <p:spPr>
          <a:xfrm>
            <a:off x="4846320" y="1828800"/>
            <a:ext cx="2926080" cy="1645920"/>
          </a:xfrm>
          <a:prstGeom prst="rect">
            <a:avLst/>
          </a:prstGeom>
          <a:solidFill>
            <a:srgbClr val="F8F9FA"/>
          </a:solidFill>
          <a:ln w="25400">
            <a:solidFill>
              <a:srgbClr val="27AC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46320" y="201168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0">
                <a:solidFill>
                  <a:srgbClr val="505050"/>
                </a:solidFill>
              </a:defRPr>
            </a:pPr>
            <a:r>
              <a:t>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0" y="25603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2C3E50"/>
                </a:solidFill>
              </a:defRPr>
            </a:pPr>
            <a:r>
              <a:t>林建宏 Ken（阿建）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0" y="29718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27ACB2"/>
                </a:solidFill>
              </a:defRPr>
            </a:pPr>
            <a:r>
              <a:t>總經理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71600" y="3840480"/>
            <a:ext cx="2926080" cy="1645920"/>
          </a:xfrm>
          <a:prstGeom prst="rect">
            <a:avLst/>
          </a:prstGeom>
          <a:solidFill>
            <a:srgbClr val="F8F9FA"/>
          </a:solidFill>
          <a:ln w="25400">
            <a:solidFill>
              <a:srgbClr val="27AC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2336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0">
                <a:solidFill>
                  <a:srgbClr val="505050"/>
                </a:solidFill>
              </a:defRPr>
            </a:pPr>
            <a:r>
              <a:t>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5720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2C3E50"/>
                </a:solidFill>
              </a:defRPr>
            </a:pPr>
            <a:r>
              <a:t>小圓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498348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27ACB2"/>
                </a:solidFill>
              </a:defRPr>
            </a:pPr>
            <a:r>
              <a:t>業務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46320" y="3840480"/>
            <a:ext cx="2926080" cy="1645920"/>
          </a:xfrm>
          <a:prstGeom prst="rect">
            <a:avLst/>
          </a:prstGeom>
          <a:solidFill>
            <a:srgbClr val="F8F9FA"/>
          </a:solidFill>
          <a:ln w="25400">
            <a:solidFill>
              <a:srgbClr val="27AC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46320" y="402336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0">
                <a:solidFill>
                  <a:srgbClr val="505050"/>
                </a:solidFill>
              </a:defRPr>
            </a:pPr>
            <a:r>
              <a:t>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46320" y="45720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2C3E50"/>
                </a:solidFill>
              </a:defRPr>
            </a:pPr>
            <a:r>
              <a:t>小兔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46320" y="498348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27ACB2"/>
                </a:solidFill>
              </a:defRPr>
            </a:pPr>
            <a:r>
              <a:t>會計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C3E50"/>
                </a:solidFill>
              </a:defRPr>
            </a:pPr>
            <a:r>
              <a:t>🤖 AI 時代的轉型思維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371600"/>
            <a:ext cx="6400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3C3C3C"/>
                </a:solidFill>
              </a:defRPr>
            </a:pPr>
            <a:r>
              <a:t>我們正邁入 AI 時代（2-3 年轉型期）</a:t>
            </a:r>
          </a:p>
          <a:p>
            <a:pPr>
              <a:defRPr sz="1600">
                <a:solidFill>
                  <a:srgbClr val="3C3C3C"/>
                </a:solidFill>
              </a:defRPr>
            </a:pPr>
            <a:r>
              <a:t>工具變化快，輔助能力強</a:t>
            </a:r>
          </a:p>
          <a:p>
            <a:pPr>
              <a:defRPr sz="1600">
                <a:solidFill>
                  <a:srgbClr val="3C3C3C"/>
                </a:solidFill>
              </a:defRPr>
            </a:pPr>
            <a:r>
              <a:t>讓工具來協助工作，而非全靠人工</a:t>
            </a:r>
          </a:p>
          <a:p>
            <a:pPr>
              <a:defRPr sz="1600">
                <a:solidFill>
                  <a:srgbClr val="3C3C3C"/>
                </a:solidFill>
              </a:defRPr>
            </a:pPr>
            <a:r>
              <a:t>從「我來做」轉變為「我來管理工具做」</a:t>
            </a:r>
          </a:p>
          <a:p>
            <a:pPr>
              <a:defRPr sz="1600">
                <a:solidFill>
                  <a:srgbClr val="3C3C3C"/>
                </a:solidFill>
              </a:defRPr>
            </a:pPr>
            <a:r>
              <a:t>工作效率可以是過去的 10 倍甚至更多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C3E50"/>
                </a:solidFill>
              </a:defRPr>
            </a:pPr>
            <a:r>
              <a:t>🎯 駕馭 AI，而非被取代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371600"/>
            <a:ext cx="6400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3C3C3C"/>
                </a:solidFill>
              </a:defRPr>
            </a:pPr>
            <a:r>
              <a:t>⚠️ 不用擔心 AI 能取代掉誰</a:t>
            </a:r>
          </a:p>
          <a:p>
            <a:pPr>
              <a:defRPr sz="1600">
                <a:solidFill>
                  <a:srgbClr val="3C3C3C"/>
                </a:solidFill>
              </a:defRPr>
            </a:pPr>
            <a:r>
              <a:t>重點是如何駕馭 AI，創造更高效率及產值</a:t>
            </a:r>
          </a:p>
          <a:p>
            <a:pPr>
              <a:defRPr sz="1600">
                <a:solidFill>
                  <a:srgbClr val="3C3C3C"/>
                </a:solidFill>
              </a:defRPr>
            </a:pPr>
          </a:p>
          <a:p>
            <a:pPr>
              <a:defRPr sz="1600">
                <a:solidFill>
                  <a:srgbClr val="3C3C3C"/>
                </a:solidFill>
              </a:defRPr>
            </a:pPr>
            <a:r>
              <a:t>不改革，就會被改革淘汰</a:t>
            </a:r>
          </a:p>
          <a:p>
            <a:pPr>
              <a:defRPr sz="1600">
                <a:solidFill>
                  <a:srgbClr val="3C3C3C"/>
                </a:solidFill>
              </a:defRPr>
            </a:pPr>
          </a:p>
          <a:p>
            <a:pPr>
              <a:defRPr sz="1600">
                <a:solidFill>
                  <a:srgbClr val="3C3C3C"/>
                </a:solidFill>
              </a:defRPr>
            </a:pPr>
            <a:r>
              <a:t>⭐ 會用 AI 的人 &gt; 不會用 AI 的人</a:t>
            </a:r>
          </a:p>
          <a:p>
            <a:pPr>
              <a:defRPr sz="1600">
                <a:solidFill>
                  <a:srgbClr val="3C3C3C"/>
                </a:solidFill>
              </a:defRPr>
            </a:pPr>
            <a:r>
              <a:t>⭐ 主動學習工具 &gt; 固守舊方法</a:t>
            </a:r>
          </a:p>
          <a:p>
            <a:pPr>
              <a:defRPr sz="1600">
                <a:solidFill>
                  <a:srgbClr val="3C3C3C"/>
                </a:solidFill>
              </a:defRPr>
            </a:pPr>
            <a:r>
              <a:t>⭐ 擁抱變化 &gt; 抗拒變化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C3E50"/>
                </a:solidFill>
              </a:defRPr>
            </a:pPr>
            <a:r>
              <a:t>🚀 公司發展階段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371600"/>
            <a:ext cx="6400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3C3C3C"/>
                </a:solidFill>
              </a:defRPr>
            </a:pPr>
            <a:r>
              <a:t>我們正處於快速發展期</a:t>
            </a:r>
          </a:p>
          <a:p>
            <a:pPr lvl="1">
              <a:defRPr sz="1600">
                <a:solidFill>
                  <a:srgbClr val="3C3C3C"/>
                </a:solidFill>
              </a:defRPr>
            </a:pPr>
            <a:r>
              <a:t>  從 1 家店 → 105 家店（不到 3 年）</a:t>
            </a:r>
          </a:p>
          <a:p>
            <a:pPr lvl="1">
              <a:defRPr sz="1600">
                <a:solidFill>
                  <a:srgbClr val="3C3C3C"/>
                </a:solidFill>
              </a:defRPr>
            </a:pPr>
            <a:r>
              <a:t>  從無人概念 → AI 智能管理</a:t>
            </a:r>
          </a:p>
          <a:p>
            <a:pPr lvl="1">
              <a:defRPr sz="1600">
                <a:solidFill>
                  <a:srgbClr val="3C3C3C"/>
                </a:solidFill>
              </a:defRPr>
            </a:pPr>
            <a:r>
              <a:t>  從單一品牌 → 多品牌布局（智摸科技）</a:t>
            </a:r>
          </a:p>
          <a:p>
            <a:pPr>
              <a:defRPr sz="1600">
                <a:solidFill>
                  <a:srgbClr val="3C3C3C"/>
                </a:solidFill>
              </a:defRPr>
            </a:pPr>
          </a:p>
          <a:p>
            <a:pPr>
              <a:defRPr sz="1600">
                <a:solidFill>
                  <a:srgbClr val="3C3C3C"/>
                </a:solidFill>
              </a:defRPr>
            </a:pPr>
            <a:r>
              <a:t>我們需要什麼樣的夥伴？</a:t>
            </a:r>
          </a:p>
          <a:p>
            <a:pPr>
              <a:defRPr sz="1600">
                <a:solidFill>
                  <a:srgbClr val="3C3C3C"/>
                </a:solidFill>
              </a:defRPr>
            </a:pPr>
            <a:r>
              <a:t>🚀 願意共同衝刺的夥伴</a:t>
            </a:r>
          </a:p>
          <a:p>
            <a:pPr>
              <a:defRPr sz="1600">
                <a:solidFill>
                  <a:srgbClr val="3C3C3C"/>
                </a:solidFill>
              </a:defRPr>
            </a:pPr>
            <a:r>
              <a:t>🚀 能快速適應變化的員工</a:t>
            </a:r>
          </a:p>
          <a:p>
            <a:pPr>
              <a:defRPr sz="1600">
                <a:solidFill>
                  <a:srgbClr val="3C3C3C"/>
                </a:solidFill>
              </a:defRPr>
            </a:pPr>
            <a:r>
              <a:t>🚀 有主動學習精神的人</a:t>
            </a:r>
          </a:p>
          <a:p>
            <a:pPr>
              <a:defRPr sz="1600">
                <a:solidFill>
                  <a:srgbClr val="3C3C3C"/>
                </a:solidFill>
              </a:defRPr>
            </a:pPr>
            <a:r>
              <a:t>🚀 能駕馭工具創造價值的人才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C3E50"/>
                </a:solidFill>
              </a:defRPr>
            </a:pPr>
            <a:r>
              <a:t>💼 工作期待 - 醜話說在前面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371600"/>
            <a:ext cx="6400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3C3C3C"/>
                </a:solidFill>
              </a:defRPr>
            </a:pPr>
            <a:r>
              <a:t>🚫 Ken（阿建）最不喜歡聽到的話：「我不會」</a:t>
            </a:r>
          </a:p>
          <a:p>
            <a:pPr>
              <a:defRPr sz="1600">
                <a:solidFill>
                  <a:srgbClr val="3C3C3C"/>
                </a:solidFill>
              </a:defRPr>
            </a:pPr>
          </a:p>
          <a:p>
            <a:pPr>
              <a:defRPr sz="1600">
                <a:solidFill>
                  <a:srgbClr val="3C3C3C"/>
                </a:solidFill>
              </a:defRPr>
            </a:pPr>
            <a:r>
              <a:t>在 AI 時代，這些是基本能力：</a:t>
            </a:r>
          </a:p>
          <a:p>
            <a:pPr>
              <a:defRPr sz="1600">
                <a:solidFill>
                  <a:srgbClr val="3C3C3C"/>
                </a:solidFill>
              </a:defRPr>
            </a:pPr>
            <a:r>
              <a:t>✅ 統整能力 - 整理資訊、歸納重點</a:t>
            </a:r>
          </a:p>
          <a:p>
            <a:pPr>
              <a:defRPr sz="1600">
                <a:solidFill>
                  <a:srgbClr val="3C3C3C"/>
                </a:solidFill>
              </a:defRPr>
            </a:pPr>
            <a:r>
              <a:t>✅ 資料收集 - 搜尋、彙整、分析</a:t>
            </a:r>
          </a:p>
          <a:p>
            <a:pPr>
              <a:defRPr sz="1600">
                <a:solidFill>
                  <a:srgbClr val="3C3C3C"/>
                </a:solidFill>
              </a:defRPr>
            </a:pPr>
            <a:r>
              <a:t>✅ AI 工具可以做很完整的協助</a:t>
            </a:r>
          </a:p>
          <a:p>
            <a:pPr>
              <a:defRPr sz="1600">
                <a:solidFill>
                  <a:srgbClr val="3C3C3C"/>
                </a:solidFill>
              </a:defRPr>
            </a:pPr>
          </a:p>
          <a:p>
            <a:pPr>
              <a:defRPr sz="1600">
                <a:solidFill>
                  <a:srgbClr val="3C3C3C"/>
                </a:solidFill>
              </a:defRPr>
            </a:pPr>
            <a:r>
              <a:t>我們需要的是什麼人？</a:t>
            </a:r>
          </a:p>
          <a:p>
            <a:pPr>
              <a:defRPr sz="1600">
                <a:solidFill>
                  <a:srgbClr val="3C3C3C"/>
                </a:solidFill>
              </a:defRPr>
            </a:pPr>
            <a:r>
              <a:t>✅ 會思考的人</a:t>
            </a:r>
          </a:p>
          <a:p>
            <a:pPr>
              <a:defRPr sz="1600">
                <a:solidFill>
                  <a:srgbClr val="3C3C3C"/>
                </a:solidFill>
              </a:defRPr>
            </a:pPr>
            <a:r>
              <a:t>✅ 會整理的人</a:t>
            </a:r>
          </a:p>
          <a:p>
            <a:pPr>
              <a:defRPr sz="1600">
                <a:solidFill>
                  <a:srgbClr val="3C3C3C"/>
                </a:solidFill>
              </a:defRPr>
            </a:pPr>
            <a:r>
              <a:t>✅ 會主動嘗試的人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C3E50"/>
                </a:solidFill>
              </a:defRPr>
            </a:pPr>
            <a:r>
              <a:t>📋 正確的工作態度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371600"/>
            <a:ext cx="6400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3C3C3C"/>
                </a:solidFill>
              </a:defRPr>
            </a:pPr>
            <a:r>
              <a:t>收到任務後，你應該：</a:t>
            </a:r>
          </a:p>
          <a:p>
            <a:pPr>
              <a:defRPr sz="1600">
                <a:solidFill>
                  <a:srgbClr val="3C3C3C"/>
                </a:solidFill>
              </a:defRPr>
            </a:pPr>
            <a:r>
              <a:t>🎯 先簡單彙整任務（用工具協助）</a:t>
            </a:r>
          </a:p>
          <a:p>
            <a:pPr>
              <a:defRPr sz="1600">
                <a:solidFill>
                  <a:srgbClr val="3C3C3C"/>
                </a:solidFill>
              </a:defRPr>
            </a:pPr>
            <a:r>
              <a:t>🎯 整理出初步結果（可以不完美）</a:t>
            </a:r>
          </a:p>
          <a:p>
            <a:pPr>
              <a:defRPr sz="1600">
                <a:solidFill>
                  <a:srgbClr val="3C3C3C"/>
                </a:solidFill>
              </a:defRPr>
            </a:pPr>
            <a:r>
              <a:t>🎯 開會時討論與調整</a:t>
            </a:r>
          </a:p>
          <a:p>
            <a:pPr>
              <a:defRPr sz="1600">
                <a:solidFill>
                  <a:srgbClr val="3C3C3C"/>
                </a:solidFill>
              </a:defRPr>
            </a:pPr>
          </a:p>
          <a:p>
            <a:pPr>
              <a:defRPr sz="1600">
                <a:solidFill>
                  <a:srgbClr val="3C3C3C"/>
                </a:solidFill>
              </a:defRPr>
            </a:pPr>
            <a:r>
              <a:t>✅ 可以接受：</a:t>
            </a:r>
          </a:p>
          <a:p>
            <a:pPr lvl="1">
              <a:defRPr sz="1600">
                <a:solidFill>
                  <a:srgbClr val="3C3C3C"/>
                </a:solidFill>
              </a:defRPr>
            </a:pPr>
            <a:r>
              <a:t>  結果不盡理想 - 沒關係，可以調整</a:t>
            </a:r>
          </a:p>
          <a:p>
            <a:pPr lvl="1">
              <a:defRPr sz="1600">
                <a:solidFill>
                  <a:srgbClr val="3C3C3C"/>
                </a:solidFill>
              </a:defRPr>
            </a:pPr>
            <a:r>
              <a:t>  判斷有些不同 - 沒關係，可以討論</a:t>
            </a:r>
          </a:p>
          <a:p>
            <a:pPr>
              <a:defRPr sz="1600">
                <a:solidFill>
                  <a:srgbClr val="3C3C3C"/>
                </a:solidFill>
              </a:defRPr>
            </a:pPr>
          </a:p>
          <a:p>
            <a:pPr>
              <a:defRPr sz="1600">
                <a:solidFill>
                  <a:srgbClr val="3C3C3C"/>
                </a:solidFill>
              </a:defRPr>
            </a:pPr>
            <a:r>
              <a:t>❌ 無法接受：</a:t>
            </a:r>
          </a:p>
          <a:p>
            <a:pPr lvl="1">
              <a:defRPr sz="1600">
                <a:solidFill>
                  <a:srgbClr val="3C3C3C"/>
                </a:solidFill>
              </a:defRPr>
            </a:pPr>
            <a:r>
              <a:t>  完全沒嘗試就說「我不會」</a:t>
            </a:r>
          </a:p>
          <a:p>
            <a:pPr lvl="1">
              <a:defRPr sz="1600">
                <a:solidFill>
                  <a:srgbClr val="3C3C3C"/>
                </a:solidFill>
              </a:defRPr>
            </a:pPr>
            <a:r>
              <a:t>  不思考、不整理，等別人給答案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C3E50"/>
                </a:solidFill>
              </a:defRPr>
            </a:pPr>
            <a:r>
              <a:t>📅 工作節奏與溝通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371600"/>
            <a:ext cx="6400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3C3C3C"/>
                </a:solidFill>
              </a:defRPr>
            </a:pPr>
            <a:r>
              <a:t>每週二下午 2:00 - 週會議</a:t>
            </a:r>
          </a:p>
          <a:p>
            <a:pPr>
              <a:defRPr sz="1600">
                <a:solidFill>
                  <a:srgbClr val="3C3C3C"/>
                </a:solidFill>
              </a:defRPr>
            </a:pPr>
            <a:r>
              <a:t>📊 整理一週的工作狀況</a:t>
            </a:r>
          </a:p>
          <a:p>
            <a:pPr>
              <a:defRPr sz="1600">
                <a:solidFill>
                  <a:srgbClr val="3C3C3C"/>
                </a:solidFill>
              </a:defRPr>
            </a:pPr>
            <a:r>
              <a:t>📢 報告進度與問題</a:t>
            </a:r>
          </a:p>
          <a:p>
            <a:pPr>
              <a:defRPr sz="1600">
                <a:solidFill>
                  <a:srgbClr val="3C3C3C"/>
                </a:solidFill>
              </a:defRPr>
            </a:pPr>
            <a:r>
              <a:t>💬 討論解決方案</a:t>
            </a:r>
          </a:p>
          <a:p>
            <a:pPr>
              <a:defRPr sz="1600">
                <a:solidFill>
                  <a:srgbClr val="3C3C3C"/>
                </a:solidFill>
              </a:defRPr>
            </a:pPr>
            <a:r>
              <a:t>🎯 設定下週目標</a:t>
            </a:r>
          </a:p>
          <a:p>
            <a:pPr>
              <a:defRPr sz="1600">
                <a:solidFill>
                  <a:srgbClr val="3C3C3C"/>
                </a:solidFill>
              </a:defRPr>
            </a:pPr>
          </a:p>
          <a:p>
            <a:pPr>
              <a:defRPr sz="1600">
                <a:solidFill>
                  <a:srgbClr val="3C3C3C"/>
                </a:solidFill>
              </a:defRPr>
            </a:pPr>
            <a:r>
              <a:t>日常溝通方式：</a:t>
            </a:r>
          </a:p>
          <a:p>
            <a:pPr>
              <a:defRPr sz="1600">
                <a:solidFill>
                  <a:srgbClr val="3C3C3C"/>
                </a:solidFill>
              </a:defRPr>
            </a:pPr>
            <a:r>
              <a:t>✅ 群組即時討論（快速決策）</a:t>
            </a:r>
          </a:p>
          <a:p>
            <a:pPr>
              <a:defRPr sz="1600">
                <a:solidFill>
                  <a:srgbClr val="3C3C3C"/>
                </a:solidFill>
              </a:defRPr>
            </a:pPr>
            <a:r>
              <a:t>✅ 重要事項即時宣布</a:t>
            </a:r>
          </a:p>
          <a:p>
            <a:pPr>
              <a:defRPr sz="1600">
                <a:solidFill>
                  <a:srgbClr val="3C3C3C"/>
                </a:solidFill>
              </a:defRPr>
            </a:pPr>
            <a:r>
              <a:t>⚠️ 重要事項開會需再重複一次</a:t>
            </a:r>
          </a:p>
          <a:p>
            <a:pPr>
              <a:defRPr sz="1600">
                <a:solidFill>
                  <a:srgbClr val="3C3C3C"/>
                </a:solidFill>
              </a:defRPr>
            </a:pPr>
            <a:r>
              <a:t>🎯 確保所有人都吸收到訊息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C3E50"/>
                </a:solidFill>
              </a:defRPr>
            </a:pPr>
            <a:r>
              <a:t>💰 薪資福利制度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371600"/>
            <a:ext cx="6400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3C3C3C"/>
                </a:solidFill>
              </a:defRPr>
            </a:pPr>
            <a:r>
              <a:t>薪資結構</a:t>
            </a:r>
          </a:p>
          <a:p>
            <a:pPr>
              <a:defRPr sz="1400">
                <a:solidFill>
                  <a:srgbClr val="3C3C3C"/>
                </a:solidFill>
              </a:defRPr>
            </a:pPr>
            <a:r>
              <a:t>💵 底薪：依職位而定（面談時詳談）</a:t>
            </a:r>
          </a:p>
          <a:p>
            <a:pPr>
              <a:defRPr sz="1400">
                <a:solidFill>
                  <a:srgbClr val="3C3C3C"/>
                </a:solidFill>
              </a:defRPr>
            </a:pPr>
            <a:r>
              <a:t>💵 績效獎金：依實際表現與公司營收</a:t>
            </a:r>
          </a:p>
          <a:p>
            <a:pPr>
              <a:defRPr sz="1400">
                <a:solidFill>
                  <a:srgbClr val="3C3C3C"/>
                </a:solidFill>
              </a:defRPr>
            </a:pPr>
            <a:r>
              <a:t>💵 年終獎金：依年度表現發放</a:t>
            </a:r>
          </a:p>
          <a:p>
            <a:pPr>
              <a:defRPr sz="1400">
                <a:solidFill>
                  <a:srgbClr val="3C3C3C"/>
                </a:solidFill>
              </a:defRPr>
            </a:pPr>
            <a:r>
              <a:t>📅 發薪日：每月 5 號</a:t>
            </a:r>
          </a:p>
          <a:p>
            <a:pPr>
              <a:defRPr sz="1400">
                <a:solidFill>
                  <a:srgbClr val="3C3C3C"/>
                </a:solidFill>
              </a:defRPr>
            </a:pPr>
            <a:r>
              <a:t>💳 發薪方式：匯款到指定帳戶（國泰世華優先，其他銀行也可）</a:t>
            </a:r>
          </a:p>
          <a:p>
            <a:pPr>
              <a:defRPr sz="1400">
                <a:solidFill>
                  <a:srgbClr val="3C3C3C"/>
                </a:solidFill>
              </a:defRPr>
            </a:pPr>
          </a:p>
          <a:p>
            <a:pPr>
              <a:defRPr sz="1400">
                <a:solidFill>
                  <a:srgbClr val="3C3C3C"/>
                </a:solidFill>
              </a:defRPr>
            </a:pPr>
            <a:r>
              <a:t>保險福利</a:t>
            </a:r>
          </a:p>
          <a:p>
            <a:pPr>
              <a:defRPr sz="1400">
                <a:solidFill>
                  <a:srgbClr val="3C3C3C"/>
                </a:solidFill>
              </a:defRPr>
            </a:pPr>
            <a:r>
              <a:t>✅ 勞保、健保（到職日起算）</a:t>
            </a:r>
          </a:p>
          <a:p>
            <a:pPr>
              <a:defRPr sz="1400">
                <a:solidFill>
                  <a:srgbClr val="3C3C3C"/>
                </a:solidFill>
              </a:defRPr>
            </a:pPr>
          </a:p>
          <a:p>
            <a:pPr>
              <a:defRPr sz="1400">
                <a:solidFill>
                  <a:srgbClr val="3C3C3C"/>
                </a:solidFill>
              </a:defRPr>
            </a:pPr>
            <a:r>
              <a:t>休假制度</a:t>
            </a:r>
          </a:p>
          <a:p>
            <a:pPr>
              <a:defRPr sz="1400">
                <a:solidFill>
                  <a:srgbClr val="3C3C3C"/>
                </a:solidFill>
              </a:defRPr>
            </a:pPr>
            <a:r>
              <a:t>🏖️ 特休：依勞基法規定</a:t>
            </a:r>
          </a:p>
          <a:p>
            <a:pPr>
              <a:defRPr sz="1400">
                <a:solidFill>
                  <a:srgbClr val="3C3C3C"/>
                </a:solidFill>
              </a:defRPr>
            </a:pPr>
            <a:r>
              <a:t>🏥 病假、事假：依勞基法規定</a:t>
            </a:r>
          </a:p>
          <a:p>
            <a:pPr>
              <a:defRPr sz="1400">
                <a:solidFill>
                  <a:srgbClr val="3C3C3C"/>
                </a:solidFill>
              </a:defRPr>
            </a:pPr>
            <a:r>
              <a:t>📅 週休二日，依勞基法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C3E50"/>
                </a:solidFill>
              </a:defRPr>
            </a:pPr>
            <a:r>
              <a:t>📝 請假與加班規定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371600"/>
            <a:ext cx="6400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3C3C3C"/>
                </a:solidFill>
              </a:defRPr>
            </a:pPr>
            <a:r>
              <a:t>請假流程</a:t>
            </a:r>
          </a:p>
          <a:p>
            <a:pPr>
              <a:defRPr sz="1600">
                <a:solidFill>
                  <a:srgbClr val="3C3C3C"/>
                </a:solidFill>
              </a:defRPr>
            </a:pPr>
            <a:r>
              <a:t>1. 透過 LINE 向阿建申請</a:t>
            </a:r>
          </a:p>
          <a:p>
            <a:pPr>
              <a:defRPr sz="1600">
                <a:solidFill>
                  <a:srgbClr val="3C3C3C"/>
                </a:solidFill>
              </a:defRPr>
            </a:pPr>
            <a:r>
              <a:t>2. 需提前至少一天告知</a:t>
            </a:r>
          </a:p>
          <a:p>
            <a:pPr>
              <a:defRPr sz="1600">
                <a:solidFill>
                  <a:srgbClr val="3C3C3C"/>
                </a:solidFill>
              </a:defRPr>
            </a:pPr>
            <a:r>
              <a:t>3. 由阿建批准</a:t>
            </a:r>
          </a:p>
          <a:p>
            <a:pPr>
              <a:defRPr sz="1600">
                <a:solidFill>
                  <a:srgbClr val="3C3C3C"/>
                </a:solidFill>
              </a:defRPr>
            </a:pPr>
            <a:r>
              <a:t>4. 緊急狀況請電話聯絡阿建</a:t>
            </a:r>
          </a:p>
          <a:p>
            <a:pPr>
              <a:defRPr sz="1600">
                <a:solidFill>
                  <a:srgbClr val="3C3C3C"/>
                </a:solidFill>
              </a:defRPr>
            </a:pPr>
          </a:p>
          <a:p>
            <a:pPr>
              <a:defRPr sz="1600">
                <a:solidFill>
                  <a:srgbClr val="3C3C3C"/>
                </a:solidFill>
              </a:defRPr>
            </a:pPr>
            <a:r>
              <a:t>加班規定</a:t>
            </a:r>
          </a:p>
          <a:p>
            <a:pPr>
              <a:defRPr sz="1600">
                <a:solidFill>
                  <a:srgbClr val="3C3C3C"/>
                </a:solidFill>
              </a:defRPr>
            </a:pPr>
            <a:r>
              <a:t>⏰ 加班費計算：依勞基法規定</a:t>
            </a:r>
          </a:p>
          <a:p>
            <a:pPr>
              <a:defRPr sz="1600">
                <a:solidFill>
                  <a:srgbClr val="3C3C3C"/>
                </a:solidFill>
              </a:defRPr>
            </a:pPr>
            <a:r>
              <a:t>🔄 補休規則：主管同意後執行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4754880"/>
            <a:ext cx="6400800" cy="914400"/>
          </a:xfrm>
          <a:prstGeom prst="rect">
            <a:avLst/>
          </a:prstGeom>
          <a:solidFill>
            <a:srgbClr val="FFF3CD"/>
          </a:solidFill>
          <a:ln w="38100"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554480" y="4892040"/>
            <a:ext cx="6035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856404"/>
                </a:solidFill>
              </a:defRPr>
            </a:pPr>
            <a:r>
              <a:t>⚠️ 重要提醒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5303520"/>
            <a:ext cx="6035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505050"/>
                </a:solidFill>
              </a:defRPr>
            </a:pPr>
            <a:r>
              <a:t>週會（每週二下午 2:00）為固定會議，若無法參加需提前告知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C3E50"/>
                </a:solidFill>
              </a:defRPr>
            </a:pPr>
            <a:r>
              <a:t>🎯 各職位職責與 KPI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645920"/>
            <a:ext cx="6400800" cy="1828800"/>
          </a:xfrm>
          <a:prstGeom prst="rect">
            <a:avLst/>
          </a:prstGeom>
          <a:solidFill>
            <a:srgbClr val="27AC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554480" y="1783080"/>
            <a:ext cx="6035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業務（小圓）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2240280"/>
            <a:ext cx="6035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t>日常工作：加盟諮詢接待、店家裝潢監工、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          材料訂購追蹤、客戶關係維護</a:t>
            </a:r>
          </a:p>
          <a:p>
            <a:pPr>
              <a:defRPr sz="1600">
                <a:solidFill>
                  <a:srgbClr val="FFFFFF"/>
                </a:solidFill>
              </a:defRPr>
            </a:pP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KPI 指標：每季調整一次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3657600"/>
            <a:ext cx="6400800" cy="1371600"/>
          </a:xfrm>
          <a:prstGeom prst="rect">
            <a:avLst/>
          </a:prstGeom>
          <a:solidFill>
            <a:srgbClr val="27AC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3794760"/>
            <a:ext cx="6035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會計（小兔）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4251960"/>
            <a:ext cx="6035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t>日常工作：帳務處理、報表製作、發票開立、薪資計算</a:t>
            </a:r>
          </a:p>
          <a:p>
            <a:pPr>
              <a:defRPr sz="1600">
                <a:solidFill>
                  <a:srgbClr val="FFFFFF"/>
                </a:solidFill>
              </a:defRPr>
            </a:pP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KPI 指標：每季調整一次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512064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46464"/>
                </a:solidFill>
              </a:defRPr>
            </a:pPr>
            <a:r>
              <a:t>💡 具體 KPI 數字與考核標準將由主管說明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C3E50"/>
                </a:solidFill>
              </a:defRPr>
            </a:pPr>
            <a:r>
              <a:t>🔧 系統操作教學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371600"/>
            <a:ext cx="6400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3C3C3C"/>
                </a:solidFill>
              </a:defRPr>
            </a:pPr>
            <a:r>
              <a:t>內部系統</a:t>
            </a:r>
          </a:p>
          <a:p>
            <a:pPr>
              <a:defRPr sz="1400">
                <a:solidFill>
                  <a:srgbClr val="3C3C3C"/>
                </a:solidFill>
              </a:defRPr>
            </a:pPr>
            <a:r>
              <a:t>🏪 ONE桌遊管理系統 - 店家管理、訂單、會員</a:t>
            </a:r>
          </a:p>
          <a:p>
            <a:pPr>
              <a:defRPr sz="1400">
                <a:solidFill>
                  <a:srgbClr val="3C3C3C"/>
                </a:solidFill>
              </a:defRPr>
            </a:pPr>
            <a:r>
              <a:t>📦 倉儲管理系統 - 庫存、進出貨</a:t>
            </a:r>
          </a:p>
          <a:p>
            <a:pPr>
              <a:defRPr sz="1400">
                <a:solidFill>
                  <a:srgbClr val="3C3C3C"/>
                </a:solidFill>
              </a:defRPr>
            </a:pPr>
            <a:r>
              <a:t>🤖 AI 客服系統 - 自動回覆、問題分類</a:t>
            </a:r>
          </a:p>
          <a:p>
            <a:pPr>
              <a:defRPr sz="1400">
                <a:solidFill>
                  <a:srgbClr val="3C3C3C"/>
                </a:solidFill>
              </a:defRPr>
            </a:pPr>
            <a:r>
              <a:t>🧹 打掃系統 - 任務派發、進度追蹤</a:t>
            </a:r>
          </a:p>
          <a:p>
            <a:pPr>
              <a:defRPr sz="1400">
                <a:solidFill>
                  <a:srgbClr val="3C3C3C"/>
                </a:solidFill>
              </a:defRPr>
            </a:pPr>
          </a:p>
          <a:p>
            <a:pPr>
              <a:defRPr sz="1400">
                <a:solidFill>
                  <a:srgbClr val="3C3C3C"/>
                </a:solidFill>
              </a:defRPr>
            </a:pPr>
            <a:r>
              <a:t>AI 工具輔助</a:t>
            </a:r>
          </a:p>
          <a:p>
            <a:pPr>
              <a:defRPr sz="1400">
                <a:solidFill>
                  <a:srgbClr val="3C3C3C"/>
                </a:solidFill>
              </a:defRPr>
            </a:pPr>
            <a:r>
              <a:t>💬 ChatGPT / Claude - 資料整理、文案撰寫</a:t>
            </a:r>
          </a:p>
          <a:p>
            <a:pPr>
              <a:defRPr sz="1400">
                <a:solidFill>
                  <a:srgbClr val="3C3C3C"/>
                </a:solidFill>
              </a:defRPr>
            </a:pPr>
            <a:r>
              <a:t>📄 Google Workspace - 文件協作</a:t>
            </a:r>
          </a:p>
          <a:p>
            <a:pPr>
              <a:defRPr sz="1400">
                <a:solidFill>
                  <a:srgbClr val="3C3C3C"/>
                </a:solidFill>
              </a:defRPr>
            </a:pPr>
            <a:r>
              <a:t>📱 LINE - 即時溝通</a:t>
            </a:r>
          </a:p>
          <a:p>
            <a:pPr>
              <a:defRPr sz="1400">
                <a:solidFill>
                  <a:srgbClr val="3C3C3C"/>
                </a:solidFill>
              </a:defRPr>
            </a:pPr>
            <a:r>
              <a:t>💻 GitHub - 程式碼管理（技術團隊）</a:t>
            </a:r>
          </a:p>
          <a:p>
            <a:pPr>
              <a:defRPr sz="1400">
                <a:solidFill>
                  <a:srgbClr val="3C3C3C"/>
                </a:solidFill>
              </a:defRPr>
            </a:pPr>
          </a:p>
          <a:p>
            <a:pPr>
              <a:defRPr sz="1400">
                <a:solidFill>
                  <a:srgbClr val="3C3C3C"/>
                </a:solidFill>
              </a:defRPr>
            </a:pPr>
            <a:r>
              <a:t>💡 帳號密碼由阿建提供，操作手冊將由阿建提供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C3E50"/>
                </a:solidFill>
              </a:defRPr>
            </a:pPr>
            <a:r>
              <a:t>🚨 緊急處理流程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371600"/>
            <a:ext cx="6400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3C3C3C"/>
                </a:solidFill>
              </a:defRPr>
            </a:pPr>
            <a:r>
              <a:t>店家緊急狀況</a:t>
            </a:r>
          </a:p>
          <a:p>
            <a:pPr lvl="1">
              <a:defRPr sz="1400">
                <a:solidFill>
                  <a:srgbClr val="3C3C3C"/>
                </a:solidFill>
              </a:defRPr>
            </a:pPr>
            <a:r>
              <a:t>• 門鎖故障（客戶鎖在裡面）→ 安撫客戶 → 遠端開鎖 → 通知業務</a:t>
            </a:r>
          </a:p>
          <a:p>
            <a:pPr lvl="1">
              <a:defRPr sz="1400">
                <a:solidFill>
                  <a:srgbClr val="3C3C3C"/>
                </a:solidFill>
              </a:defRPr>
            </a:pPr>
            <a:r>
              <a:t>• 設備故障（麻將桌、冷氣）→ 記錄問題 → 通知業務 → 派工維修</a:t>
            </a:r>
          </a:p>
          <a:p>
            <a:pPr lvl="1">
              <a:defRPr sz="1400">
                <a:solidFill>
                  <a:srgbClr val="3C3C3C"/>
                </a:solidFill>
              </a:defRPr>
            </a:pPr>
            <a:r>
              <a:t>• 客訴處理（鄰居噪音等）→ 了解情況 → 安撫客戶 → 通報主管</a:t>
            </a:r>
          </a:p>
          <a:p>
            <a:pPr lvl="1">
              <a:defRPr sz="1400">
                <a:solidFill>
                  <a:srgbClr val="3C3C3C"/>
                </a:solidFill>
              </a:defRPr>
            </a:pPr>
            <a:r>
              <a:t>• 系統當機 → 確認範圍 → 通知技術 → 暫用備案</a:t>
            </a:r>
          </a:p>
          <a:p>
            <a:pPr>
              <a:defRPr sz="1400">
                <a:solidFill>
                  <a:srgbClr val="3C3C3C"/>
                </a:solidFill>
              </a:defRPr>
            </a:pPr>
          </a:p>
          <a:p>
            <a:pPr>
              <a:defRPr sz="1400">
                <a:solidFill>
                  <a:srgbClr val="3C3C3C"/>
                </a:solidFill>
              </a:defRPr>
            </a:pPr>
            <a:r>
              <a:t>⚠️ 緊急聯絡人</a:t>
            </a:r>
          </a:p>
          <a:p>
            <a:pPr>
              <a:defRPr sz="1400">
                <a:solidFill>
                  <a:srgbClr val="3C3C3C"/>
                </a:solidFill>
              </a:defRPr>
            </a:pPr>
            <a:r>
              <a:t>林建宏（阿建）總經理 - 0975-170-840</a:t>
            </a:r>
          </a:p>
          <a:p>
            <a:pPr>
              <a:defRPr sz="1400">
                <a:solidFill>
                  <a:srgbClr val="3C3C3C"/>
                </a:solidFill>
              </a:defRPr>
            </a:pPr>
            <a:r>
              <a:t>林建佑（負責人）- 0920-119-696</a:t>
            </a:r>
          </a:p>
          <a:p>
            <a:pPr>
              <a:defRPr sz="1400">
                <a:solidFill>
                  <a:srgbClr val="3C3C3C"/>
                </a:solidFill>
              </a:defRPr>
            </a:pPr>
            <a:r>
              <a:t>技術支援 - 阿建 0975-170-840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C3E50"/>
                </a:solidFill>
              </a:defRPr>
            </a:pPr>
            <a:r>
              <a:t>❓ 常見問題 FAQ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371600"/>
            <a:ext cx="6400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3C3C3C"/>
                </a:solidFill>
              </a:defRPr>
            </a:pPr>
            <a:r>
              <a:t>關於工作</a:t>
            </a:r>
          </a:p>
          <a:p>
            <a:pPr>
              <a:defRPr sz="1400">
                <a:solidFill>
                  <a:srgbClr val="3C3C3C"/>
                </a:solidFill>
              </a:defRPr>
            </a:pPr>
            <a:r>
              <a:t>Q: 忘記打卡怎麼辦？</a:t>
            </a:r>
          </a:p>
          <a:p>
            <a:pPr>
              <a:defRPr sz="1400">
                <a:solidFill>
                  <a:srgbClr val="3C3C3C"/>
                </a:solidFill>
              </a:defRPr>
            </a:pPr>
            <a:r>
              <a:t>A: 立即 LINE 通知阿建補登</a:t>
            </a:r>
          </a:p>
          <a:p>
            <a:pPr>
              <a:defRPr sz="1400">
                <a:solidFill>
                  <a:srgbClr val="3C3C3C"/>
                </a:solidFill>
              </a:defRPr>
            </a:pPr>
          </a:p>
          <a:p>
            <a:pPr>
              <a:defRPr sz="1400">
                <a:solidFill>
                  <a:srgbClr val="3C3C3C"/>
                </a:solidFill>
              </a:defRPr>
            </a:pPr>
            <a:r>
              <a:t>Q: 臨時請假要找誰？</a:t>
            </a:r>
          </a:p>
          <a:p>
            <a:pPr>
              <a:defRPr sz="1400">
                <a:solidFill>
                  <a:srgbClr val="3C3C3C"/>
                </a:solidFill>
              </a:defRPr>
            </a:pPr>
            <a:r>
              <a:t>A: LINE 向阿建申請，提前一天告知</a:t>
            </a:r>
          </a:p>
          <a:p>
            <a:pPr>
              <a:defRPr sz="1400">
                <a:solidFill>
                  <a:srgbClr val="3C3C3C"/>
                </a:solidFill>
              </a:defRPr>
            </a:pPr>
          </a:p>
          <a:p>
            <a:pPr>
              <a:defRPr sz="1400">
                <a:solidFill>
                  <a:srgbClr val="3C3C3C"/>
                </a:solidFill>
              </a:defRPr>
            </a:pPr>
            <a:r>
              <a:t>關於公司</a:t>
            </a:r>
          </a:p>
          <a:p>
            <a:pPr>
              <a:defRPr sz="1400">
                <a:solidFill>
                  <a:srgbClr val="3C3C3C"/>
                </a:solidFill>
              </a:defRPr>
            </a:pPr>
            <a:r>
              <a:t>Q: 午餐公司有提供嗎？</a:t>
            </a:r>
          </a:p>
          <a:p>
            <a:pPr>
              <a:defRPr sz="1400">
                <a:solidFill>
                  <a:srgbClr val="3C3C3C"/>
                </a:solidFill>
              </a:defRPr>
            </a:pPr>
            <a:r>
              <a:t>A: 無，請自理</a:t>
            </a:r>
          </a:p>
          <a:p>
            <a:pPr>
              <a:defRPr sz="1400">
                <a:solidFill>
                  <a:srgbClr val="3C3C3C"/>
                </a:solidFill>
              </a:defRPr>
            </a:pPr>
          </a:p>
          <a:p>
            <a:pPr>
              <a:defRPr sz="1400">
                <a:solidFill>
                  <a:srgbClr val="3C3C3C"/>
                </a:solidFill>
              </a:defRPr>
            </a:pPr>
            <a:r>
              <a:t>Q: 可以在家工作嗎？</a:t>
            </a:r>
          </a:p>
          <a:p>
            <a:pPr>
              <a:defRPr sz="1400">
                <a:solidFill>
                  <a:srgbClr val="3C3C3C"/>
                </a:solidFill>
              </a:defRPr>
            </a:pPr>
            <a:r>
              <a:t>A: 目前須到辦公室上班</a:t>
            </a:r>
          </a:p>
          <a:p>
            <a:pPr>
              <a:defRPr sz="1400">
                <a:solidFill>
                  <a:srgbClr val="3C3C3C"/>
                </a:solidFill>
              </a:defRPr>
            </a:pPr>
          </a:p>
          <a:p>
            <a:pPr>
              <a:defRPr sz="1400">
                <a:solidFill>
                  <a:srgbClr val="3C3C3C"/>
                </a:solidFill>
              </a:defRPr>
            </a:pPr>
            <a:r>
              <a:t>Q: 多久會調薪？</a:t>
            </a:r>
          </a:p>
          <a:p>
            <a:pPr>
              <a:defRPr sz="1400">
                <a:solidFill>
                  <a:srgbClr val="3C3C3C"/>
                </a:solidFill>
              </a:defRPr>
            </a:pPr>
            <a:r>
              <a:t>A: KPI 每季調整一次，表現優異會調整薪資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C3E50"/>
                </a:solidFill>
              </a:defRPr>
            </a:pPr>
            <a:r>
              <a:t>📚 成功/失敗案例分享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371600"/>
            <a:ext cx="6400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3C3C3C"/>
                </a:solidFill>
              </a:defRPr>
            </a:pPr>
            <a:r>
              <a:t>✅ 成功案例：善用 AI 工具</a:t>
            </a:r>
          </a:p>
          <a:p>
            <a:pPr>
              <a:defRPr sz="1400">
                <a:solidFill>
                  <a:srgbClr val="3C3C3C"/>
                </a:solidFill>
              </a:defRPr>
            </a:pPr>
            <a:r>
              <a:t>情境：整理 100 家店的營收報表</a:t>
            </a:r>
          </a:p>
          <a:p>
            <a:pPr>
              <a:defRPr sz="1400">
                <a:solidFill>
                  <a:srgbClr val="3C3C3C"/>
                </a:solidFill>
              </a:defRPr>
            </a:pPr>
            <a:r>
              <a:t>傳統做法：手動 Excel，需要 7 天</a:t>
            </a:r>
          </a:p>
          <a:p>
            <a:pPr>
              <a:defRPr sz="1400">
                <a:solidFill>
                  <a:srgbClr val="3C3C3C"/>
                </a:solidFill>
              </a:defRPr>
            </a:pPr>
            <a:r>
              <a:t>AI 做法：用 Claude 寫腳本，3 天完成</a:t>
            </a:r>
          </a:p>
          <a:p>
            <a:pPr>
              <a:defRPr sz="1400">
                <a:solidFill>
                  <a:srgbClr val="3C3C3C"/>
                </a:solidFill>
              </a:defRPr>
            </a:pPr>
            <a:r>
              <a:t>學到：善用工具可大幅提升效率</a:t>
            </a:r>
          </a:p>
          <a:p>
            <a:pPr>
              <a:defRPr sz="1400">
                <a:solidFill>
                  <a:srgbClr val="3C3C3C"/>
                </a:solidFill>
              </a:defRPr>
            </a:pPr>
          </a:p>
          <a:p>
            <a:pPr>
              <a:defRPr sz="1400">
                <a:solidFill>
                  <a:srgbClr val="3C3C3C"/>
                </a:solidFill>
              </a:defRPr>
            </a:pPr>
            <a:r>
              <a:t>❌ 失敗案例：說「我不會」導致延誤</a:t>
            </a:r>
          </a:p>
          <a:p>
            <a:pPr>
              <a:defRPr sz="1400">
                <a:solidFill>
                  <a:srgbClr val="3C3C3C"/>
                </a:solidFill>
              </a:defRPr>
            </a:pPr>
            <a:r>
              <a:t>情境：收到任務直接說不會，等主管教</a:t>
            </a:r>
          </a:p>
          <a:p>
            <a:pPr>
              <a:defRPr sz="1400">
                <a:solidFill>
                  <a:srgbClr val="3C3C3C"/>
                </a:solidFill>
              </a:defRPr>
            </a:pPr>
            <a:r>
              <a:t>結果：錯過截止日，影響整個專案</a:t>
            </a:r>
          </a:p>
          <a:p>
            <a:pPr>
              <a:defRPr sz="1400">
                <a:solidFill>
                  <a:srgbClr val="3C3C3C"/>
                </a:solidFill>
              </a:defRPr>
            </a:pPr>
            <a:r>
              <a:t>教訓：先嘗試用 AI/Google 找答案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C3E50"/>
                </a:solidFill>
              </a:defRPr>
            </a:pPr>
            <a:r>
              <a:t>🌟 公司願景與目標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371600"/>
            <a:ext cx="6400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3C3C3C"/>
                </a:solidFill>
              </a:defRPr>
            </a:pPr>
            <a:r>
              <a:t>2026 年目標</a:t>
            </a:r>
          </a:p>
          <a:p>
            <a:pPr>
              <a:defRPr sz="1400">
                <a:solidFill>
                  <a:srgbClr val="3C3C3C"/>
                </a:solidFill>
              </a:defRPr>
            </a:pPr>
            <a:r>
              <a:t>📈 ONE桌遊拓展到 140 家店</a:t>
            </a:r>
          </a:p>
          <a:p>
            <a:pPr>
              <a:defRPr sz="1400">
                <a:solidFill>
                  <a:srgbClr val="3C3C3C"/>
                </a:solidFill>
              </a:defRPr>
            </a:pPr>
            <a:r>
              <a:t>🚀 智摸突破 30 家店</a:t>
            </a:r>
          </a:p>
          <a:p>
            <a:pPr>
              <a:defRPr sz="1400">
                <a:solidFill>
                  <a:srgbClr val="3C3C3C"/>
                </a:solidFill>
              </a:defRPr>
            </a:pPr>
            <a:r>
              <a:t>💡 新型模式研發</a:t>
            </a:r>
          </a:p>
          <a:p>
            <a:pPr>
              <a:defRPr sz="1400">
                <a:solidFill>
                  <a:srgbClr val="3C3C3C"/>
                </a:solidFill>
              </a:defRPr>
            </a:pPr>
            <a:r>
              <a:t>🤖 AI 產品正式搶佔市場，以 SaaS 模式</a:t>
            </a:r>
          </a:p>
          <a:p>
            <a:pPr>
              <a:defRPr sz="1400">
                <a:solidFill>
                  <a:srgbClr val="3C3C3C"/>
                </a:solidFill>
              </a:defRPr>
            </a:pPr>
          </a:p>
          <a:p>
            <a:pPr>
              <a:defRPr sz="1400">
                <a:solidFill>
                  <a:srgbClr val="3C3C3C"/>
                </a:solidFill>
              </a:defRPr>
            </a:pPr>
            <a:r>
              <a:t>中期目標（3 年內）</a:t>
            </a:r>
          </a:p>
          <a:p>
            <a:pPr>
              <a:defRPr sz="1400">
                <a:solidFill>
                  <a:srgbClr val="3C3C3C"/>
                </a:solidFill>
              </a:defRPr>
            </a:pPr>
            <a:r>
              <a:t>🏆 成為全台最大自助娛樂品牌</a:t>
            </a:r>
          </a:p>
          <a:p>
            <a:pPr>
              <a:defRPr sz="1400">
                <a:solidFill>
                  <a:srgbClr val="3C3C3C"/>
                </a:solidFill>
              </a:defRPr>
            </a:pPr>
            <a:r>
              <a:t>🌏 進軍海外市場（香港、新加坡）</a:t>
            </a:r>
          </a:p>
          <a:p>
            <a:pPr>
              <a:defRPr sz="1400">
                <a:solidFill>
                  <a:srgbClr val="3C3C3C"/>
                </a:solidFill>
              </a:defRPr>
            </a:pPr>
          </a:p>
          <a:p>
            <a:pPr>
              <a:defRPr sz="1400">
                <a:solidFill>
                  <a:srgbClr val="3C3C3C"/>
                </a:solidFill>
              </a:defRPr>
            </a:pPr>
            <a:r>
              <a:t>長期願景（5 年+）</a:t>
            </a:r>
          </a:p>
          <a:p>
            <a:pPr>
              <a:defRPr sz="1400">
                <a:solidFill>
                  <a:srgbClr val="3C3C3C"/>
                </a:solidFill>
              </a:defRPr>
            </a:pPr>
            <a:r>
              <a:t>✨ 重新定義休閒娛樂產業</a:t>
            </a:r>
          </a:p>
          <a:p>
            <a:pPr>
              <a:defRPr sz="1400">
                <a:solidFill>
                  <a:srgbClr val="3C3C3C"/>
                </a:solidFill>
              </a:defRPr>
            </a:pPr>
            <a:r>
              <a:t>✨ AI 驅動的無人營運標準</a:t>
            </a:r>
          </a:p>
          <a:p>
            <a:pPr>
              <a:defRPr sz="1400">
                <a:solidFill>
                  <a:srgbClr val="3C3C3C"/>
                </a:solidFill>
              </a:defRPr>
            </a:pPr>
            <a:r>
              <a:t>✨ 成為產業標竿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C3E50"/>
                </a:solidFill>
              </a:defRPr>
            </a:pPr>
            <a:r>
              <a:t>🔒 保密與資訊安全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371600"/>
            <a:ext cx="6400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3C3C3C"/>
                </a:solidFill>
              </a:defRPr>
            </a:pPr>
            <a:r>
              <a:t>保密協議</a:t>
            </a:r>
          </a:p>
          <a:p>
            <a:pPr>
              <a:defRPr sz="1400">
                <a:solidFill>
                  <a:srgbClr val="3C3C3C"/>
                </a:solidFill>
              </a:defRPr>
            </a:pPr>
            <a:r>
              <a:t>🔐 客戶資料不外流</a:t>
            </a:r>
          </a:p>
          <a:p>
            <a:pPr>
              <a:defRPr sz="1400">
                <a:solidFill>
                  <a:srgbClr val="3C3C3C"/>
                </a:solidFill>
              </a:defRPr>
            </a:pPr>
            <a:r>
              <a:t>🔐 營收數據不公開</a:t>
            </a:r>
          </a:p>
          <a:p>
            <a:pPr>
              <a:defRPr sz="1400">
                <a:solidFill>
                  <a:srgbClr val="3C3C3C"/>
                </a:solidFill>
              </a:defRPr>
            </a:pPr>
            <a:r>
              <a:t>🔐 AI 系統程式碼不外傳</a:t>
            </a:r>
          </a:p>
          <a:p>
            <a:pPr>
              <a:defRPr sz="1400">
                <a:solidFill>
                  <a:srgbClr val="3C3C3C"/>
                </a:solidFill>
              </a:defRPr>
            </a:pPr>
            <a:r>
              <a:t>🔐 內部溝通記錄不截圖外傳</a:t>
            </a:r>
          </a:p>
          <a:p>
            <a:pPr>
              <a:defRPr sz="1400">
                <a:solidFill>
                  <a:srgbClr val="3C3C3C"/>
                </a:solidFill>
              </a:defRPr>
            </a:pPr>
          </a:p>
          <a:p>
            <a:pPr>
              <a:defRPr sz="1400">
                <a:solidFill>
                  <a:srgbClr val="3C3C3C"/>
                </a:solidFill>
              </a:defRPr>
            </a:pPr>
            <a:r>
              <a:t>資訊安全規範</a:t>
            </a:r>
          </a:p>
          <a:p>
            <a:pPr>
              <a:defRPr sz="1400">
                <a:solidFill>
                  <a:srgbClr val="3C3C3C"/>
                </a:solidFill>
              </a:defRPr>
            </a:pPr>
            <a:r>
              <a:t>🔑 密碼設定：至少 12 字元，含英數符號</a:t>
            </a:r>
          </a:p>
          <a:p>
            <a:pPr>
              <a:defRPr sz="1400">
                <a:solidFill>
                  <a:srgbClr val="3C3C3C"/>
                </a:solidFill>
              </a:defRPr>
            </a:pPr>
            <a:r>
              <a:t>🔑 禁止共用帳號</a:t>
            </a:r>
          </a:p>
          <a:p>
            <a:pPr>
              <a:defRPr sz="1400">
                <a:solidFill>
                  <a:srgbClr val="3C3C3C"/>
                </a:solidFill>
              </a:defRPr>
            </a:pPr>
            <a:r>
              <a:t>🔑 離職時交還所有資料與權限</a:t>
            </a:r>
          </a:p>
          <a:p>
            <a:pPr>
              <a:defRPr sz="1400">
                <a:solidFill>
                  <a:srgbClr val="3C3C3C"/>
                </a:solidFill>
              </a:defRPr>
            </a:pPr>
          </a:p>
          <a:p>
            <a:pPr>
              <a:defRPr sz="1400">
                <a:solidFill>
                  <a:srgbClr val="3C3C3C"/>
                </a:solidFill>
              </a:defRPr>
            </a:pPr>
            <a:r>
              <a:t>違規後果</a:t>
            </a:r>
          </a:p>
          <a:p>
            <a:pPr>
              <a:defRPr sz="1400">
                <a:solidFill>
                  <a:srgbClr val="3C3C3C"/>
                </a:solidFill>
              </a:defRPr>
            </a:pPr>
            <a:r>
              <a:t>第一次：書面警告 | 第二次：記過處分</a:t>
            </a:r>
          </a:p>
          <a:p>
            <a:pPr>
              <a:defRPr sz="1400">
                <a:solidFill>
                  <a:srgbClr val="3C3C3C"/>
                </a:solidFill>
              </a:defRPr>
            </a:pPr>
            <a:r>
              <a:t>嚴重違規：立即解雇 + 法律追訴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C3E50"/>
                </a:solidFill>
              </a:defRPr>
            </a:pPr>
            <a:r>
              <a:t>🏢 辦公室實務資訊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371600"/>
            <a:ext cx="6400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3C3C3C"/>
                </a:solidFill>
              </a:defRPr>
            </a:pPr>
            <a:r>
              <a:t>上下班時間</a:t>
            </a:r>
          </a:p>
          <a:p>
            <a:pPr>
              <a:defRPr sz="1400">
                <a:solidFill>
                  <a:srgbClr val="3C3C3C"/>
                </a:solidFill>
              </a:defRPr>
            </a:pPr>
            <a:r>
              <a:t>⏰ 正常工時：13:00-21:00（下午1點到晚上9點）</a:t>
            </a:r>
          </a:p>
          <a:p>
            <a:pPr>
              <a:defRPr sz="1400">
                <a:solidFill>
                  <a:srgbClr val="3C3C3C"/>
                </a:solidFill>
              </a:defRPr>
            </a:pPr>
            <a:r>
              <a:t>⏰ 彈性工時：無，固定時段</a:t>
            </a:r>
          </a:p>
          <a:p>
            <a:pPr>
              <a:defRPr sz="1400">
                <a:solidFill>
                  <a:srgbClr val="3C3C3C"/>
                </a:solidFill>
              </a:defRPr>
            </a:pPr>
            <a:r>
              <a:t>🍱 午餐時間：可自行安排</a:t>
            </a:r>
          </a:p>
          <a:p>
            <a:pPr>
              <a:defRPr sz="1400">
                <a:solidFill>
                  <a:srgbClr val="3C3C3C"/>
                </a:solidFill>
              </a:defRPr>
            </a:pPr>
          </a:p>
          <a:p>
            <a:pPr>
              <a:defRPr sz="1400">
                <a:solidFill>
                  <a:srgbClr val="3C3C3C"/>
                </a:solidFill>
              </a:defRPr>
            </a:pPr>
            <a:r>
              <a:t>辦公地點</a:t>
            </a:r>
          </a:p>
          <a:p>
            <a:pPr>
              <a:defRPr sz="1400">
                <a:solidFill>
                  <a:srgbClr val="3C3C3C"/>
                </a:solidFill>
              </a:defRPr>
            </a:pPr>
            <a:r>
              <a:t>🔑 打卡方式：臉部辨識打卡，二樓辦公室入口處</a:t>
            </a:r>
          </a:p>
          <a:p>
            <a:pPr>
              <a:defRPr sz="1400">
                <a:solidFill>
                  <a:srgbClr val="3C3C3C"/>
                </a:solidFill>
              </a:defRPr>
            </a:pPr>
          </a:p>
          <a:p>
            <a:pPr>
              <a:defRPr sz="1400">
                <a:solidFill>
                  <a:srgbClr val="3C3C3C"/>
                </a:solidFill>
              </a:defRPr>
            </a:pPr>
            <a:r>
              <a:t>辦公環境</a:t>
            </a:r>
          </a:p>
          <a:p>
            <a:pPr>
              <a:defRPr sz="1400">
                <a:solidFill>
                  <a:srgbClr val="3C3C3C"/>
                </a:solidFill>
              </a:defRPr>
            </a:pPr>
            <a:r>
              <a:t>♻️ 垃圾處理：不用分類，打包後放門口右邊緊急配電處，</a:t>
            </a:r>
          </a:p>
          <a:p>
            <a:pPr lvl="1">
              <a:defRPr sz="1400">
                <a:solidFill>
                  <a:srgbClr val="3C3C3C"/>
                </a:solidFill>
              </a:defRPr>
            </a:pPr>
            <a:r>
              <a:t>            每天有人來收</a:t>
            </a:r>
          </a:p>
          <a:p>
            <a:pPr>
              <a:defRPr sz="1400">
                <a:solidFill>
                  <a:srgbClr val="3C3C3C"/>
                </a:solidFill>
              </a:defRPr>
            </a:pPr>
            <a:r>
              <a:t>🧹 環境打掃：每週一次專人打掃大環境及廁所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C3E50"/>
                </a:solidFill>
              </a:defRPr>
            </a:pPr>
            <a:r>
              <a:t>📈 職涯發展與成長機會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371600"/>
            <a:ext cx="6400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3C3C3C"/>
                </a:solidFill>
              </a:defRPr>
            </a:pPr>
            <a:r>
              <a:t>公司處於快速發展期，機會很多</a:t>
            </a:r>
          </a:p>
          <a:p>
            <a:pPr>
              <a:defRPr sz="1400">
                <a:solidFill>
                  <a:srgbClr val="3C3C3C"/>
                </a:solidFill>
              </a:defRPr>
            </a:pPr>
            <a:r>
              <a:t>📊 從執行 → 管理</a:t>
            </a:r>
          </a:p>
          <a:p>
            <a:pPr>
              <a:defRPr sz="1400">
                <a:solidFill>
                  <a:srgbClr val="3C3C3C"/>
                </a:solidFill>
              </a:defRPr>
            </a:pPr>
            <a:r>
              <a:t>📊 從單一職能 → 跨領域</a:t>
            </a:r>
          </a:p>
          <a:p>
            <a:pPr>
              <a:defRPr sz="1400">
                <a:solidFill>
                  <a:srgbClr val="3C3C3C"/>
                </a:solidFill>
              </a:defRPr>
            </a:pPr>
            <a:r>
              <a:t>📊 從傳統工作 → AI 協作</a:t>
            </a:r>
          </a:p>
          <a:p>
            <a:pPr>
              <a:defRPr sz="1400">
                <a:solidFill>
                  <a:srgbClr val="3C3C3C"/>
                </a:solidFill>
              </a:defRPr>
            </a:pPr>
            <a:r>
              <a:t>📊 從員工 → 核心夥伴</a:t>
            </a:r>
          </a:p>
          <a:p>
            <a:pPr>
              <a:defRPr sz="1400">
                <a:solidFill>
                  <a:srgbClr val="3C3C3C"/>
                </a:solidFill>
              </a:defRPr>
            </a:pPr>
          </a:p>
          <a:p>
            <a:pPr>
              <a:defRPr sz="1400">
                <a:solidFill>
                  <a:srgbClr val="3C3C3C"/>
                </a:solidFill>
              </a:defRPr>
            </a:pPr>
            <a:r>
              <a:t>你將學到</a:t>
            </a:r>
          </a:p>
          <a:p>
            <a:pPr>
              <a:defRPr sz="1400">
                <a:solidFill>
                  <a:srgbClr val="3C3C3C"/>
                </a:solidFill>
              </a:defRPr>
            </a:pPr>
            <a:r>
              <a:t>🎯 AI 時代的工作方法</a:t>
            </a:r>
          </a:p>
          <a:p>
            <a:pPr>
              <a:defRPr sz="1400">
                <a:solidFill>
                  <a:srgbClr val="3C3C3C"/>
                </a:solidFill>
              </a:defRPr>
            </a:pPr>
            <a:r>
              <a:t>🎯 快速成長企業的營運模式</a:t>
            </a:r>
          </a:p>
          <a:p>
            <a:pPr>
              <a:defRPr sz="1400">
                <a:solidFill>
                  <a:srgbClr val="3C3C3C"/>
                </a:solidFill>
              </a:defRPr>
            </a:pPr>
            <a:r>
              <a:t>🎯 多系統整合的實戰經驗</a:t>
            </a:r>
          </a:p>
          <a:p>
            <a:pPr>
              <a:defRPr sz="1400">
                <a:solidFill>
                  <a:srgbClr val="3C3C3C"/>
                </a:solidFill>
              </a:defRPr>
            </a:pPr>
            <a:r>
              <a:t>🎯 從 0 到 1 建立新事業的能力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C3E50"/>
                </a:solidFill>
              </a:defRPr>
            </a:pPr>
            <a:r>
              <a:t>🌟 公司文化與價值觀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371600"/>
            <a:ext cx="6400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3C3C3C"/>
                </a:solidFill>
              </a:defRPr>
            </a:pPr>
            <a:r>
              <a:t>核心價值觀</a:t>
            </a:r>
          </a:p>
          <a:p>
            <a:pPr>
              <a:defRPr sz="1400">
                <a:solidFill>
                  <a:srgbClr val="3C3C3C"/>
                </a:solidFill>
              </a:defRPr>
            </a:pPr>
            <a:r>
              <a:t>🚀 快速行動 - 想到就做，邊做邊調整</a:t>
            </a:r>
          </a:p>
          <a:p>
            <a:pPr>
              <a:defRPr sz="1400">
                <a:solidFill>
                  <a:srgbClr val="3C3C3C"/>
                </a:solidFill>
              </a:defRPr>
            </a:pPr>
            <a:r>
              <a:t>🤝 團隊協作 - 一起衝刺，共享成果</a:t>
            </a:r>
          </a:p>
          <a:p>
            <a:pPr>
              <a:defRPr sz="1400">
                <a:solidFill>
                  <a:srgbClr val="3C3C3C"/>
                </a:solidFill>
              </a:defRPr>
            </a:pPr>
            <a:r>
              <a:t>💡 擁抱創新 - 用 AI，用新工具，用新方法</a:t>
            </a:r>
          </a:p>
          <a:p>
            <a:pPr>
              <a:defRPr sz="1400">
                <a:solidFill>
                  <a:srgbClr val="3C3C3C"/>
                </a:solidFill>
              </a:defRPr>
            </a:pPr>
          </a:p>
          <a:p>
            <a:pPr>
              <a:defRPr sz="1400">
                <a:solidFill>
                  <a:srgbClr val="3C3C3C"/>
                </a:solidFill>
              </a:defRPr>
            </a:pPr>
            <a:r>
              <a:t>我們相信</a:t>
            </a:r>
          </a:p>
          <a:p>
            <a:pPr>
              <a:defRPr sz="1400">
                <a:solidFill>
                  <a:srgbClr val="3C3C3C"/>
                </a:solidFill>
              </a:defRPr>
            </a:pPr>
            <a:r>
              <a:t>⭐ 工具比經驗重要（AI 時代）</a:t>
            </a:r>
          </a:p>
          <a:p>
            <a:pPr>
              <a:defRPr sz="1400">
                <a:solidFill>
                  <a:srgbClr val="3C3C3C"/>
                </a:solidFill>
              </a:defRPr>
            </a:pPr>
            <a:r>
              <a:t>⭐ 思考比執行重要（會思考才能駕馭工具）</a:t>
            </a:r>
          </a:p>
          <a:p>
            <a:pPr>
              <a:defRPr sz="1400">
                <a:solidFill>
                  <a:srgbClr val="3C3C3C"/>
                </a:solidFill>
              </a:defRPr>
            </a:pPr>
            <a:r>
              <a:t>⭐ 速度比完美重要（快速迭代）</a:t>
            </a:r>
          </a:p>
          <a:p>
            <a:pPr>
              <a:defRPr sz="1400">
                <a:solidFill>
                  <a:srgbClr val="3C3C3C"/>
                </a:solidFill>
              </a:defRPr>
            </a:pPr>
            <a:r>
              <a:t>⭐ 成長比穩定重要（發展期的選擇）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2C3E50"/>
                </a:solidFill>
              </a:defRPr>
            </a:pPr>
            <a:r>
              <a:t>一起衝刺未來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3200400"/>
            <a:ext cx="6400800" cy="1828800"/>
          </a:xfrm>
          <a:prstGeom prst="rect">
            <a:avLst/>
          </a:prstGeom>
          <a:solidFill>
            <a:srgbClr val="27AC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554480" y="3337560"/>
            <a:ext cx="60350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t>你選擇加入我們，代表你認同我們的理念</a:t>
            </a:r>
          </a:p>
          <a:p>
            <a:pPr>
              <a:defRPr sz="1600">
                <a:solidFill>
                  <a:srgbClr val="FFFFFF"/>
                </a:solidFill>
              </a:defRPr>
            </a:pP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這是一個快速成長的團隊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這是一個擁抱 AI 的時代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這是一個充滿機會的階段</a:t>
            </a:r>
          </a:p>
          <a:p>
            <a:pPr>
              <a:defRPr sz="1600">
                <a:solidFill>
                  <a:srgbClr val="FFFFFF"/>
                </a:solidFill>
              </a:defRPr>
            </a:pP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讓我們一起駕馭工具、創造價值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48640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27ACB2"/>
                </a:solidFill>
              </a:defRPr>
            </a:pPr>
            <a:r>
              <a:t>歡迎加入遊戲家！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C3E50"/>
                </a:solidFill>
              </a:defRPr>
            </a:pPr>
            <a:r>
              <a:t>📞 聯絡資訊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182880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3C3C3C"/>
                </a:solidFill>
              </a:defRPr>
            </a:pPr>
            <a:r>
              <a:t>遊戲家資訊科技有限公司</a:t>
            </a:r>
          </a:p>
          <a:p>
            <a:pPr>
              <a:defRPr sz="1800">
                <a:solidFill>
                  <a:srgbClr val="3C3C3C"/>
                </a:solidFill>
              </a:defRPr>
            </a:pPr>
          </a:p>
          <a:p>
            <a:pPr>
              <a:defRPr sz="1800">
                <a:solidFill>
                  <a:srgbClr val="3C3C3C"/>
                </a:solidFill>
              </a:defRPr>
            </a:pPr>
            <a:r>
              <a:t>品牌：ONE桌遊 / 智摸科技</a:t>
            </a:r>
          </a:p>
          <a:p>
            <a:pPr>
              <a:defRPr sz="1800">
                <a:solidFill>
                  <a:srgbClr val="3C3C3C"/>
                </a:solidFill>
              </a:defRPr>
            </a:pPr>
            <a:r>
              <a:t>營運店家：105 家</a:t>
            </a:r>
          </a:p>
          <a:p>
            <a:pPr>
              <a:defRPr sz="1800">
                <a:solidFill>
                  <a:srgbClr val="3C3C3C"/>
                </a:solidFill>
              </a:defRPr>
            </a:pPr>
            <a:r>
              <a:t>會員數：10萬+</a:t>
            </a:r>
          </a:p>
          <a:p>
            <a:pPr>
              <a:defRPr sz="1800">
                <a:solidFill>
                  <a:srgbClr val="3C3C3C"/>
                </a:solidFill>
              </a:defRPr>
            </a:pPr>
          </a:p>
          <a:p>
            <a:pPr>
              <a:defRPr sz="1800">
                <a:solidFill>
                  <a:srgbClr val="3C3C3C"/>
                </a:solidFill>
              </a:defRPr>
            </a:pPr>
            <a:r>
              <a:t>電話：阿建 0975-170-840</a:t>
            </a:r>
          </a:p>
          <a:p>
            <a:pPr>
              <a:defRPr sz="1800">
                <a:solidFill>
                  <a:srgbClr val="3C3C3C"/>
                </a:solidFill>
              </a:defRPr>
            </a:pPr>
          </a:p>
          <a:p>
            <a:pPr>
              <a:defRPr sz="1800">
                <a:solidFill>
                  <a:srgbClr val="3C3C3C"/>
                </a:solidFill>
              </a:defRPr>
            </a:pPr>
            <a:r>
              <a:t>如有任何問題，歡迎隨時向直屬主管</a:t>
            </a:r>
          </a:p>
          <a:p>
            <a:pPr>
              <a:defRPr sz="1800">
                <a:solidFill>
                  <a:srgbClr val="3C3C3C"/>
                </a:solidFill>
              </a:defRPr>
            </a:pPr>
            <a:r>
              <a:t>或阿建總經理詢問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